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82" r:id="rId3"/>
    <p:sldId id="284" r:id="rId4"/>
    <p:sldId id="283" r:id="rId5"/>
    <p:sldId id="308" r:id="rId6"/>
    <p:sldId id="309" r:id="rId7"/>
    <p:sldId id="276" r:id="rId8"/>
    <p:sldId id="311" r:id="rId9"/>
    <p:sldId id="285" r:id="rId10"/>
    <p:sldId id="286" r:id="rId11"/>
    <p:sldId id="301" r:id="rId12"/>
    <p:sldId id="317" r:id="rId13"/>
    <p:sldId id="305" r:id="rId14"/>
    <p:sldId id="306" r:id="rId15"/>
    <p:sldId id="277" r:id="rId16"/>
    <p:sldId id="314" r:id="rId17"/>
    <p:sldId id="315" r:id="rId18"/>
    <p:sldId id="318" r:id="rId19"/>
    <p:sldId id="316" r:id="rId20"/>
    <p:sldId id="312" r:id="rId21"/>
    <p:sldId id="290" r:id="rId22"/>
    <p:sldId id="313" r:id="rId23"/>
    <p:sldId id="262" r:id="rId24"/>
  </p:sldIdLst>
  <p:sldSz cx="18288000" cy="10287000"/>
  <p:notesSz cx="6858000" cy="9144000"/>
  <p:embeddedFontLst>
    <p:embeddedFont>
      <p:font typeface="Algerian" panose="04020705040A02060702" pitchFamily="82" charset="0"/>
      <p:regular r:id="rId26"/>
    </p:embeddedFont>
    <p:embeddedFont>
      <p:font typeface="Bell MT" panose="02020503060305020303" pitchFamily="18" charset="0"/>
      <p:regular r:id="rId27"/>
      <p:bold r:id="rId28"/>
      <p:italic r:id="rId29"/>
    </p:embeddedFont>
    <p:embeddedFont>
      <p:font typeface="Calibri" panose="020F0502020204030204" pitchFamily="34" charset="0"/>
      <p:regular r:id="rId30"/>
      <p:bold r:id="rId31"/>
      <p:italic r:id="rId32"/>
      <p:boldItalic r:id="rId33"/>
    </p:embeddedFont>
    <p:embeddedFont>
      <p:font typeface="Futura" panose="020B0604020202020204" charset="0"/>
      <p:regular r:id="rId34"/>
    </p:embeddedFont>
    <p:embeddedFont>
      <p:font typeface="Palace Script MT" panose="030303020206070C0B05" pitchFamily="66" charset="0"/>
      <p: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3B3B"/>
    <a:srgbClr val="1A237E"/>
    <a:srgbClr val="0B2545"/>
    <a:srgbClr val="5C6F91"/>
    <a:srgbClr val="455A64"/>
    <a:srgbClr val="FBC02D"/>
    <a:srgbClr val="E8F0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22" autoAdjust="0"/>
  </p:normalViewPr>
  <p:slideViewPr>
    <p:cSldViewPr>
      <p:cViewPr>
        <p:scale>
          <a:sx n="33" d="100"/>
          <a:sy n="33" d="100"/>
        </p:scale>
        <p:origin x="1200" y="1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565287-B775-4683-8FCD-887C10874947}" type="datetimeFigureOut">
              <a:rPr lang="en-IN" smtClean="0"/>
              <a:t>27-02-2026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530786-4267-4A06-8B48-B7E119B65DF4}" type="slidenum">
              <a:rPr lang="en-IN" smtClean="0"/>
              <a:t>‹#›</a:t>
            </a:fld>
            <a:endParaRPr lang="en-IN"/>
          </a:p>
        </p:txBody>
      </p:sp>
    </p:spTree>
    <p:extLst>
      <p:ext uri="{BB962C8B-B14F-4D97-AF65-F5344CB8AC3E}">
        <p14:creationId xmlns:p14="http://schemas.microsoft.com/office/powerpoint/2010/main" val="407867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530786-4267-4A06-8B48-B7E119B65DF4}" type="slidenum">
              <a:rPr lang="en-IN" smtClean="0"/>
              <a:t>2</a:t>
            </a:fld>
            <a:endParaRPr lang="en-IN"/>
          </a:p>
        </p:txBody>
      </p:sp>
    </p:spTree>
    <p:extLst>
      <p:ext uri="{BB962C8B-B14F-4D97-AF65-F5344CB8AC3E}">
        <p14:creationId xmlns:p14="http://schemas.microsoft.com/office/powerpoint/2010/main" val="2323465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8F0F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F0FE"/>
        </a:solidFill>
        <a:effectLst/>
      </p:bgPr>
    </p:bg>
    <p:spTree>
      <p:nvGrpSpPr>
        <p:cNvPr id="1" name=""/>
        <p:cNvGrpSpPr/>
        <p:nvPr/>
      </p:nvGrpSpPr>
      <p:grpSpPr>
        <a:xfrm>
          <a:off x="0" y="0"/>
          <a:ext cx="0" cy="0"/>
          <a:chOff x="0" y="0"/>
          <a:chExt cx="0" cy="0"/>
        </a:xfrm>
      </p:grpSpPr>
      <p:sp>
        <p:nvSpPr>
          <p:cNvPr id="12" name="TextBox 12"/>
          <p:cNvSpPr txBox="1"/>
          <p:nvPr/>
        </p:nvSpPr>
        <p:spPr>
          <a:xfrm>
            <a:off x="2130905" y="3044353"/>
            <a:ext cx="13971761" cy="4584332"/>
          </a:xfrm>
          <a:prstGeom prst="rect">
            <a:avLst/>
          </a:prstGeom>
        </p:spPr>
        <p:txBody>
          <a:bodyPr wrap="square" lIns="0" tIns="0" rIns="0" bIns="0" rtlCol="0" anchor="t">
            <a:spAutoFit/>
          </a:bodyPr>
          <a:lstStyle/>
          <a:p>
            <a:pPr marR="90170" algn="ctr">
              <a:lnSpc>
                <a:spcPct val="115000"/>
              </a:lnSpc>
              <a:spcAft>
                <a:spcPts val="1000"/>
              </a:spcAft>
            </a:pPr>
            <a:r>
              <a:rPr lang="en-US" sz="6600" b="1" dirty="0">
                <a:solidFill>
                  <a:schemeClr val="tx1">
                    <a:lumMod val="75000"/>
                    <a:lumOff val="25000"/>
                  </a:schemeClr>
                </a:solidFill>
                <a:latin typeface="Algerian" panose="04020705040A02060702" pitchFamily="82" charset="0"/>
              </a:rPr>
              <a:t>Exploring Deep Learning and Machine Learning Approaches for Brain Hemorrhage Detection </a:t>
            </a:r>
            <a:endParaRPr lang="en-IN" sz="6600" b="1" dirty="0">
              <a:solidFill>
                <a:schemeClr val="tx1">
                  <a:lumMod val="75000"/>
                  <a:lumOff val="25000"/>
                </a:schemeClr>
              </a:solidFill>
              <a:effectLst/>
              <a:latin typeface="Algerian" panose="04020705040A02060702" pitchFamily="82" charset="0"/>
              <a:ea typeface="Calibri" panose="020F050202020403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C245044C-D3B8-436B-9C94-01242E7CC157}"/>
              </a:ext>
            </a:extLst>
          </p:cNvPr>
          <p:cNvSpPr txBox="1"/>
          <p:nvPr/>
        </p:nvSpPr>
        <p:spPr>
          <a:xfrm flipH="1">
            <a:off x="2550485" y="246965"/>
            <a:ext cx="12238793" cy="2446824"/>
          </a:xfrm>
          <a:prstGeom prst="rect">
            <a:avLst/>
          </a:prstGeom>
          <a:noFill/>
        </p:spPr>
        <p:txBody>
          <a:bodyPr wrap="square" rtlCol="0">
            <a:spAutoFit/>
          </a:bodyPr>
          <a:lstStyle/>
          <a:p>
            <a:pPr lvl="1" algn="ctr"/>
            <a:r>
              <a:rPr lang="en-IN" sz="4500" b="1" dirty="0">
                <a:latin typeface="Times New Roman" panose="02020603050405020304" pitchFamily="18" charset="0"/>
                <a:cs typeface="Times New Roman" panose="02020603050405020304" pitchFamily="18" charset="0"/>
              </a:rPr>
              <a:t>Department of Information Technology</a:t>
            </a:r>
          </a:p>
          <a:p>
            <a:pPr lvl="1" algn="ctr"/>
            <a:endParaRPr lang="en-IN" sz="4500" b="1" dirty="0">
              <a:solidFill>
                <a:schemeClr val="tx2">
                  <a:lumMod val="40000"/>
                  <a:lumOff val="60000"/>
                </a:schemeClr>
              </a:solidFill>
              <a:latin typeface="Times New Roman" panose="02020603050405020304" pitchFamily="18" charset="0"/>
              <a:cs typeface="Times New Roman" panose="02020603050405020304" pitchFamily="18" charset="0"/>
            </a:endParaRPr>
          </a:p>
          <a:p>
            <a:pPr lvl="1" algn="ctr"/>
            <a:r>
              <a:rPr lang="en-IN" sz="4500" b="1" dirty="0">
                <a:latin typeface="Times New Roman" panose="02020603050405020304" pitchFamily="18" charset="0"/>
                <a:cs typeface="Times New Roman" panose="02020603050405020304" pitchFamily="18" charset="0"/>
              </a:rPr>
              <a:t> Project Review</a:t>
            </a:r>
          </a:p>
          <a:p>
            <a:pPr algn="ctr"/>
            <a:endParaRPr lang="en-IN" sz="1800" b="1" dirty="0">
              <a:latin typeface="Times New Roman" panose="02020603050405020304" pitchFamily="18" charset="0"/>
              <a:cs typeface="Times New Roman" panose="02020603050405020304" pitchFamily="18" charset="0"/>
            </a:endParaRPr>
          </a:p>
        </p:txBody>
      </p:sp>
      <p:pic>
        <p:nvPicPr>
          <p:cNvPr id="26" name="Picture 25">
            <a:extLst>
              <a:ext uri="{FF2B5EF4-FFF2-40B4-BE49-F238E27FC236}">
                <a16:creationId xmlns:a16="http://schemas.microsoft.com/office/drawing/2014/main" id="{144E2135-646B-4B69-9360-B3114B1F63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44800" y="-287399"/>
            <a:ext cx="3021177" cy="3515552"/>
          </a:xfrm>
          <a:prstGeom prst="rect">
            <a:avLst/>
          </a:prstGeom>
        </p:spPr>
      </p:pic>
      <p:sp>
        <p:nvSpPr>
          <p:cNvPr id="27" name="TextBox 26">
            <a:extLst>
              <a:ext uri="{FF2B5EF4-FFF2-40B4-BE49-F238E27FC236}">
                <a16:creationId xmlns:a16="http://schemas.microsoft.com/office/drawing/2014/main" id="{A25E529B-3D1C-4745-A25F-06396FBB8923}"/>
              </a:ext>
            </a:extLst>
          </p:cNvPr>
          <p:cNvSpPr txBox="1"/>
          <p:nvPr/>
        </p:nvSpPr>
        <p:spPr>
          <a:xfrm>
            <a:off x="7848600" y="7708098"/>
            <a:ext cx="10820399" cy="2400657"/>
          </a:xfrm>
          <a:prstGeom prst="rect">
            <a:avLst/>
          </a:prstGeom>
          <a:noFill/>
        </p:spPr>
        <p:txBody>
          <a:bodyPr wrap="square" rtlCol="0">
            <a:spAutoFit/>
          </a:bodyPr>
          <a:lstStyle/>
          <a:p>
            <a:r>
              <a:rPr lang="en-IN" sz="3000" dirty="0">
                <a:solidFill>
                  <a:srgbClr val="6E3B3B"/>
                </a:solidFill>
                <a:latin typeface="Algerian" panose="04020705040A02060702" pitchFamily="82" charset="0"/>
              </a:rPr>
              <a:t>Presented by </a:t>
            </a:r>
          </a:p>
          <a:p>
            <a:r>
              <a:rPr lang="en-IN" sz="3000" dirty="0">
                <a:solidFill>
                  <a:srgbClr val="6E3B3B"/>
                </a:solidFill>
                <a:latin typeface="Algerian" panose="04020705040A02060702" pitchFamily="82" charset="0"/>
              </a:rPr>
              <a:t>  			 SIMEEN FATIMA JAMEEL 160922737032</a:t>
            </a:r>
          </a:p>
          <a:p>
            <a:r>
              <a:rPr lang="en-IN" sz="3000" dirty="0">
                <a:solidFill>
                  <a:srgbClr val="6E3B3B"/>
                </a:solidFill>
                <a:latin typeface="Algerian" panose="04020705040A02060702" pitchFamily="82" charset="0"/>
              </a:rPr>
              <a:t>                              P.ABHINAV  VARMA 160922737039</a:t>
            </a:r>
          </a:p>
          <a:p>
            <a:r>
              <a:rPr lang="en-IN" sz="3000" dirty="0">
                <a:solidFill>
                  <a:srgbClr val="6E3B3B"/>
                </a:solidFill>
                <a:latin typeface="Algerian" panose="04020705040A02060702" pitchFamily="82" charset="0"/>
              </a:rPr>
              <a:t>			MOHD IRFAN UDDIN 160922737003</a:t>
            </a:r>
          </a:p>
          <a:p>
            <a:endParaRPr lang="en-IN" sz="3000" dirty="0">
              <a:solidFill>
                <a:srgbClr val="FFFF00"/>
              </a:solidFill>
              <a:latin typeface="Algerian" panose="04020705040A02060702" pitchFamily="82" charset="0"/>
            </a:endParaRPr>
          </a:p>
        </p:txBody>
      </p:sp>
      <p:sp>
        <p:nvSpPr>
          <p:cNvPr id="2" name="TextBox 1">
            <a:extLst>
              <a:ext uri="{FF2B5EF4-FFF2-40B4-BE49-F238E27FC236}">
                <a16:creationId xmlns:a16="http://schemas.microsoft.com/office/drawing/2014/main" id="{B11F5650-9D31-49C0-9A01-125A8A78D3B2}"/>
              </a:ext>
            </a:extLst>
          </p:cNvPr>
          <p:cNvSpPr txBox="1"/>
          <p:nvPr/>
        </p:nvSpPr>
        <p:spPr>
          <a:xfrm>
            <a:off x="2550485" y="8801100"/>
            <a:ext cx="4809330" cy="1815882"/>
          </a:xfrm>
          <a:prstGeom prst="rect">
            <a:avLst/>
          </a:prstGeom>
          <a:noFill/>
        </p:spPr>
        <p:txBody>
          <a:bodyPr wrap="none" rtlCol="0">
            <a:spAutoFit/>
          </a:bodyPr>
          <a:lstStyle/>
          <a:p>
            <a:r>
              <a:rPr lang="en-IN" sz="2800" dirty="0">
                <a:latin typeface="Algerian" panose="04020705040A02060702" pitchFamily="82" charset="0"/>
              </a:rPr>
              <a:t>PROJECT GUIDE</a:t>
            </a:r>
          </a:p>
          <a:p>
            <a:r>
              <a:rPr lang="en-IN" sz="2800" dirty="0">
                <a:latin typeface="Algerian" panose="04020705040A02060702" pitchFamily="82" charset="0"/>
              </a:rPr>
              <a:t>       Ms. BHARGAVI </a:t>
            </a:r>
          </a:p>
          <a:p>
            <a:r>
              <a:rPr lang="en-IN" sz="2800" dirty="0">
                <a:latin typeface="Algerian" panose="04020705040A02060702" pitchFamily="82" charset="0"/>
              </a:rPr>
              <a:t>        ASSISTANT PROFESSOR</a:t>
            </a:r>
          </a:p>
          <a:p>
            <a:endParaRPr lang="en-IN" sz="2800" dirty="0">
              <a:latin typeface="Algerian" panose="04020705040A02060702" pitchFamily="82" charset="0"/>
            </a:endParaRPr>
          </a:p>
        </p:txBody>
      </p:sp>
      <p:grpSp>
        <p:nvGrpSpPr>
          <p:cNvPr id="4" name="Group 3">
            <a:extLst>
              <a:ext uri="{FF2B5EF4-FFF2-40B4-BE49-F238E27FC236}">
                <a16:creationId xmlns:a16="http://schemas.microsoft.com/office/drawing/2014/main" id="{5BF9872A-BE89-402A-8CAD-ADF06CED8850}"/>
              </a:ext>
            </a:extLst>
          </p:cNvPr>
          <p:cNvGrpSpPr/>
          <p:nvPr/>
        </p:nvGrpSpPr>
        <p:grpSpPr>
          <a:xfrm>
            <a:off x="-343292" y="-647700"/>
            <a:ext cx="1482474" cy="13591599"/>
            <a:chOff x="-285605" y="-318759"/>
            <a:chExt cx="1482474" cy="13591599"/>
          </a:xfrm>
        </p:grpSpPr>
        <p:sp>
          <p:nvSpPr>
            <p:cNvPr id="3" name="Parallelogram 2">
              <a:extLst>
                <a:ext uri="{FF2B5EF4-FFF2-40B4-BE49-F238E27FC236}">
                  <a16:creationId xmlns:a16="http://schemas.microsoft.com/office/drawing/2014/main" id="{D868D26A-E3A3-4E8D-9311-1B425E5B83C5}"/>
                </a:ext>
              </a:extLst>
            </p:cNvPr>
            <p:cNvSpPr/>
            <p:nvPr/>
          </p:nvSpPr>
          <p:spPr>
            <a:xfrm rot="611863">
              <a:off x="-285605" y="-318759"/>
              <a:ext cx="1330184" cy="8943480"/>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Parallelogram 12">
              <a:extLst>
                <a:ext uri="{FF2B5EF4-FFF2-40B4-BE49-F238E27FC236}">
                  <a16:creationId xmlns:a16="http://schemas.microsoft.com/office/drawing/2014/main" id="{4AF2964D-2AB6-4B82-AC58-F27D7197EFEE}"/>
                </a:ext>
              </a:extLst>
            </p:cNvPr>
            <p:cNvSpPr/>
            <p:nvPr/>
          </p:nvSpPr>
          <p:spPr>
            <a:xfrm rot="19054307">
              <a:off x="-133315" y="4329360"/>
              <a:ext cx="1330184" cy="8943480"/>
            </a:xfrm>
            <a:prstGeom prst="parallelogra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144E2135-646B-4B69-9360-B3114B1F63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08321" y="-316235"/>
            <a:ext cx="1679679" cy="1954536"/>
          </a:xfrm>
          <a:prstGeom prst="rect">
            <a:avLst/>
          </a:prstGeom>
        </p:spPr>
      </p:pic>
      <p:sp>
        <p:nvSpPr>
          <p:cNvPr id="3" name="TextBox 2">
            <a:extLst>
              <a:ext uri="{FF2B5EF4-FFF2-40B4-BE49-F238E27FC236}">
                <a16:creationId xmlns:a16="http://schemas.microsoft.com/office/drawing/2014/main" id="{D1917E9F-DADD-4A2C-A582-4546C517D887}"/>
              </a:ext>
            </a:extLst>
          </p:cNvPr>
          <p:cNvSpPr txBox="1"/>
          <p:nvPr/>
        </p:nvSpPr>
        <p:spPr>
          <a:xfrm>
            <a:off x="1981200" y="107035"/>
            <a:ext cx="4267200" cy="1107996"/>
          </a:xfrm>
          <a:prstGeom prst="rect">
            <a:avLst/>
          </a:prstGeom>
          <a:noFill/>
        </p:spPr>
        <p:txBody>
          <a:bodyPr wrap="square" rtlCol="0">
            <a:spAutoFit/>
          </a:bodyPr>
          <a:lstStyle/>
          <a:p>
            <a:r>
              <a:rPr lang="en-IN" sz="6600" dirty="0">
                <a:solidFill>
                  <a:srgbClr val="1A237E"/>
                </a:solidFill>
                <a:latin typeface="Algerian" panose="04020705040A02060702" pitchFamily="82" charset="0"/>
              </a:rPr>
              <a:t>CONTENTS</a:t>
            </a:r>
          </a:p>
        </p:txBody>
      </p:sp>
      <p:sp>
        <p:nvSpPr>
          <p:cNvPr id="4" name="TextBox 3">
            <a:extLst>
              <a:ext uri="{FF2B5EF4-FFF2-40B4-BE49-F238E27FC236}">
                <a16:creationId xmlns:a16="http://schemas.microsoft.com/office/drawing/2014/main" id="{1DFF63F4-DA9E-407E-978D-385726D4B9C8}"/>
              </a:ext>
            </a:extLst>
          </p:cNvPr>
          <p:cNvSpPr txBox="1"/>
          <p:nvPr/>
        </p:nvSpPr>
        <p:spPr>
          <a:xfrm>
            <a:off x="287616" y="1755216"/>
            <a:ext cx="6400800" cy="8217634"/>
          </a:xfrm>
          <a:prstGeom prst="rect">
            <a:avLst/>
          </a:prstGeom>
          <a:noFill/>
        </p:spPr>
        <p:txBody>
          <a:bodyPr wrap="square" rtlCol="0">
            <a:spAutoFit/>
          </a:bodyPr>
          <a:lstStyle/>
          <a:p>
            <a:pPr marL="571500" indent="-571500">
              <a:buFont typeface="Arial" panose="020B0604020202020204" pitchFamily="34" charset="0"/>
              <a:buChar char="•"/>
            </a:pPr>
            <a:r>
              <a:rPr lang="en-IN" sz="4400" dirty="0">
                <a:solidFill>
                  <a:schemeClr val="tx1">
                    <a:lumMod val="95000"/>
                    <a:lumOff val="5000"/>
                  </a:schemeClr>
                </a:solidFill>
                <a:latin typeface="Bell MT" panose="02020503060305020303" pitchFamily="18" charset="0"/>
                <a:ea typeface="Roboto" panose="020B0604020202020204" pitchFamily="2" charset="0"/>
                <a:cs typeface="Segoe UI Semibold" panose="020B0702040204020203" pitchFamily="34" charset="0"/>
              </a:rPr>
              <a:t>INTRODUCTION</a:t>
            </a:r>
          </a:p>
          <a:p>
            <a:pPr marL="571500" indent="-571500">
              <a:buFont typeface="Arial" panose="020B0604020202020204" pitchFamily="34" charset="0"/>
              <a:buChar char="•"/>
            </a:pPr>
            <a:r>
              <a:rPr lang="en-IN" sz="4400" dirty="0">
                <a:solidFill>
                  <a:schemeClr val="tx1">
                    <a:lumMod val="95000"/>
                    <a:lumOff val="5000"/>
                  </a:schemeClr>
                </a:solidFill>
                <a:latin typeface="Bell MT" panose="02020503060305020303" pitchFamily="18" charset="0"/>
                <a:ea typeface="Roboto" panose="020B0604020202020204" pitchFamily="2" charset="0"/>
                <a:cs typeface="Segoe UI Semibold" panose="020B0702040204020203" pitchFamily="34" charset="0"/>
              </a:rPr>
              <a:t>ABSTRACT</a:t>
            </a:r>
          </a:p>
          <a:p>
            <a:pPr marL="571500" indent="-571500">
              <a:buFont typeface="Arial" panose="020B0604020202020204" pitchFamily="34" charset="0"/>
              <a:buChar char="•"/>
            </a:pPr>
            <a:r>
              <a:rPr lang="en-IN" sz="4400" dirty="0">
                <a:solidFill>
                  <a:schemeClr val="tx1">
                    <a:lumMod val="95000"/>
                    <a:lumOff val="5000"/>
                  </a:schemeClr>
                </a:solidFill>
                <a:latin typeface="Bell MT" panose="02020503060305020303" pitchFamily="18" charset="0"/>
                <a:ea typeface="Roboto" panose="020B0604020202020204" pitchFamily="2" charset="0"/>
                <a:cs typeface="Segoe UI Semibold" panose="020B0702040204020203" pitchFamily="34" charset="0"/>
              </a:rPr>
              <a:t>OBJECTIVES</a:t>
            </a:r>
          </a:p>
          <a:p>
            <a:pPr marL="571500" indent="-571500">
              <a:buFont typeface="Arial" panose="020B0604020202020204" pitchFamily="34" charset="0"/>
              <a:buChar char="•"/>
            </a:pPr>
            <a:r>
              <a:rPr lang="en-IN" sz="4400" dirty="0">
                <a:solidFill>
                  <a:schemeClr val="tx1">
                    <a:lumMod val="95000"/>
                    <a:lumOff val="5000"/>
                  </a:schemeClr>
                </a:solidFill>
                <a:latin typeface="Bell MT" panose="02020503060305020303" pitchFamily="18" charset="0"/>
                <a:ea typeface="Roboto" panose="020B0604020202020204" pitchFamily="2" charset="0"/>
                <a:cs typeface="Segoe UI Semibold" panose="020B0702040204020203" pitchFamily="34" charset="0"/>
              </a:rPr>
              <a:t>EXISTING SYSTEM</a:t>
            </a:r>
          </a:p>
          <a:p>
            <a:pPr marL="571500" indent="-571500">
              <a:buFont typeface="Arial" panose="020B0604020202020204" pitchFamily="34" charset="0"/>
              <a:buChar char="•"/>
            </a:pPr>
            <a:r>
              <a:rPr lang="en-IN" sz="4400" dirty="0">
                <a:solidFill>
                  <a:schemeClr val="tx1">
                    <a:lumMod val="95000"/>
                    <a:lumOff val="5000"/>
                  </a:schemeClr>
                </a:solidFill>
                <a:latin typeface="Bell MT" panose="02020503060305020303" pitchFamily="18" charset="0"/>
                <a:ea typeface="Roboto" panose="020B0604020202020204" pitchFamily="2" charset="0"/>
                <a:cs typeface="Segoe UI Semibold" panose="020B0702040204020203" pitchFamily="34" charset="0"/>
              </a:rPr>
              <a:t>PRPOSED SYSYTEM</a:t>
            </a:r>
          </a:p>
          <a:p>
            <a:pPr marL="571500" indent="-571500">
              <a:buFont typeface="Arial" panose="020B0604020202020204" pitchFamily="34" charset="0"/>
              <a:buChar char="•"/>
            </a:pPr>
            <a:r>
              <a:rPr lang="en-IN" sz="4400" dirty="0">
                <a:solidFill>
                  <a:schemeClr val="tx1">
                    <a:lumMod val="95000"/>
                    <a:lumOff val="5000"/>
                  </a:schemeClr>
                </a:solidFill>
                <a:latin typeface="Bell MT" panose="02020503060305020303" pitchFamily="18" charset="0"/>
                <a:ea typeface="Roboto" panose="020B0604020202020204" pitchFamily="2" charset="0"/>
                <a:cs typeface="Segoe UI Semibold" panose="020B0702040204020203" pitchFamily="34" charset="0"/>
              </a:rPr>
              <a:t>ADVANTAGES OF PROPOSED SYSTEM</a:t>
            </a:r>
          </a:p>
          <a:p>
            <a:pPr marL="571500" indent="-571500">
              <a:buFont typeface="Arial" panose="020B0604020202020204" pitchFamily="34" charset="0"/>
              <a:buChar char="•"/>
            </a:pPr>
            <a:r>
              <a:rPr lang="en-IN" sz="4400" dirty="0">
                <a:solidFill>
                  <a:srgbClr val="0B2545"/>
                </a:solidFill>
                <a:latin typeface="Bell MT" panose="02020503060305020303" pitchFamily="18" charset="0"/>
                <a:cs typeface="Segoe UI Semibold" panose="020B0702040204020203" pitchFamily="34" charset="0"/>
              </a:rPr>
              <a:t>MODULES</a:t>
            </a:r>
          </a:p>
          <a:p>
            <a:pPr marL="571500" indent="-571500">
              <a:buFont typeface="Arial" panose="020B0604020202020204" pitchFamily="34" charset="0"/>
              <a:buChar char="•"/>
            </a:pPr>
            <a:r>
              <a:rPr lang="en-IN" sz="4400" dirty="0">
                <a:solidFill>
                  <a:srgbClr val="0B2545"/>
                </a:solidFill>
                <a:latin typeface="Bell MT" panose="02020503060305020303" pitchFamily="18" charset="0"/>
                <a:cs typeface="Segoe UI Semibold" panose="020B0702040204020203" pitchFamily="34" charset="0"/>
              </a:rPr>
              <a:t>SYSTEM DESIGN</a:t>
            </a:r>
          </a:p>
          <a:p>
            <a:pPr marL="571500" indent="-571500">
              <a:buFont typeface="Arial" panose="020B0604020202020204" pitchFamily="34" charset="0"/>
              <a:buChar char="•"/>
            </a:pPr>
            <a:r>
              <a:rPr lang="en-IN" sz="4400" dirty="0">
                <a:solidFill>
                  <a:srgbClr val="0B2545"/>
                </a:solidFill>
                <a:latin typeface="Bell MT" panose="02020503060305020303" pitchFamily="18" charset="0"/>
                <a:cs typeface="Segoe UI Semibold" panose="020B0702040204020203" pitchFamily="34" charset="0"/>
              </a:rPr>
              <a:t>SOFTWARE REQUIREMENTS</a:t>
            </a:r>
          </a:p>
          <a:p>
            <a:pPr marL="571500" indent="-571500">
              <a:buFont typeface="Arial" panose="020B0604020202020204" pitchFamily="34" charset="0"/>
              <a:buChar char="•"/>
            </a:pPr>
            <a:r>
              <a:rPr lang="en-IN" sz="4400" dirty="0">
                <a:solidFill>
                  <a:schemeClr val="tx1">
                    <a:lumMod val="95000"/>
                    <a:lumOff val="5000"/>
                  </a:schemeClr>
                </a:solidFill>
                <a:latin typeface="Bell MT" panose="02020503060305020303" pitchFamily="18" charset="0"/>
                <a:ea typeface="Roboto" panose="020B0604020202020204" pitchFamily="2" charset="0"/>
                <a:cs typeface="Segoe UI Semibold" panose="020B0702040204020203" pitchFamily="34" charset="0"/>
              </a:rPr>
              <a:t>CONCLUSION </a:t>
            </a:r>
          </a:p>
        </p:txBody>
      </p:sp>
      <p:pic>
        <p:nvPicPr>
          <p:cNvPr id="6146" name="Picture 2" descr="Free vector diagram of human brain hemorrhage">
            <a:extLst>
              <a:ext uri="{FF2B5EF4-FFF2-40B4-BE49-F238E27FC236}">
                <a16:creationId xmlns:a16="http://schemas.microsoft.com/office/drawing/2014/main" id="{1258E396-1169-4943-BAF1-CD20E8FCD7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0" y="571500"/>
            <a:ext cx="4267200" cy="511793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emorrhagic brain stroke concept. Apoplexy, cerebral hemorrhage, headache problem. Apoplectic and cva disease, bleeding in human head. Emergency in clinic or hospital. Medical flat vector illustration Stock Vector">
            <a:extLst>
              <a:ext uri="{FF2B5EF4-FFF2-40B4-BE49-F238E27FC236}">
                <a16:creationId xmlns:a16="http://schemas.microsoft.com/office/drawing/2014/main" id="{E04496B1-741A-4936-9729-1077E4725E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91748" y="6372225"/>
            <a:ext cx="4762500" cy="334327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Cerebral Hemorrhage. This Image Is Part Of A Series On The Brain Anatomy And Pathologies.">
            <a:extLst>
              <a:ext uri="{FF2B5EF4-FFF2-40B4-BE49-F238E27FC236}">
                <a16:creationId xmlns:a16="http://schemas.microsoft.com/office/drawing/2014/main" id="{C743DB05-6F5C-4854-B804-E28CEFB51F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62750" y="5689435"/>
            <a:ext cx="4762500" cy="374332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brain haemorrhage, illustration - brain hemorrhage stock pictures, royalty-free photos &amp; images">
            <a:extLst>
              <a:ext uri="{FF2B5EF4-FFF2-40B4-BE49-F238E27FC236}">
                <a16:creationId xmlns:a16="http://schemas.microsoft.com/office/drawing/2014/main" id="{767732BA-E5E4-42E1-9C98-7841C9D549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80018" y="3467100"/>
            <a:ext cx="4762500" cy="3171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765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144E2135-646B-4B69-9360-B3114B1F63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8321" y="-316235"/>
            <a:ext cx="1679679" cy="1954536"/>
          </a:xfrm>
          <a:prstGeom prst="rect">
            <a:avLst/>
          </a:prstGeom>
        </p:spPr>
      </p:pic>
      <p:sp>
        <p:nvSpPr>
          <p:cNvPr id="4" name="TextBox 3">
            <a:extLst>
              <a:ext uri="{FF2B5EF4-FFF2-40B4-BE49-F238E27FC236}">
                <a16:creationId xmlns:a16="http://schemas.microsoft.com/office/drawing/2014/main" id="{1DFF63F4-DA9E-407E-978D-385726D4B9C8}"/>
              </a:ext>
            </a:extLst>
          </p:cNvPr>
          <p:cNvSpPr txBox="1"/>
          <p:nvPr/>
        </p:nvSpPr>
        <p:spPr>
          <a:xfrm>
            <a:off x="228600" y="397014"/>
            <a:ext cx="6400800" cy="707886"/>
          </a:xfrm>
          <a:prstGeom prst="rect">
            <a:avLst/>
          </a:prstGeom>
          <a:noFill/>
        </p:spPr>
        <p:txBody>
          <a:bodyPr wrap="square" rtlCol="0">
            <a:spAutoFit/>
          </a:bodyPr>
          <a:lstStyle/>
          <a:p>
            <a:r>
              <a:rPr lang="en-IN" sz="4000" b="1" dirty="0">
                <a:solidFill>
                  <a:srgbClr val="1A237E"/>
                </a:solidFill>
                <a:latin typeface="Algerian" panose="04020705040A02060702" pitchFamily="82" charset="0"/>
              </a:rPr>
              <a:t>INTRODUCTION</a:t>
            </a:r>
          </a:p>
        </p:txBody>
      </p:sp>
      <p:sp>
        <p:nvSpPr>
          <p:cNvPr id="19" name="Rectangle 13">
            <a:extLst>
              <a:ext uri="{FF2B5EF4-FFF2-40B4-BE49-F238E27FC236}">
                <a16:creationId xmlns:a16="http://schemas.microsoft.com/office/drawing/2014/main" id="{9EBD543A-8112-488A-8A3C-E166A776344A}"/>
              </a:ext>
            </a:extLst>
          </p:cNvPr>
          <p:cNvSpPr>
            <a:spLocks noChangeArrowheads="1"/>
          </p:cNvSpPr>
          <p:nvPr/>
        </p:nvSpPr>
        <p:spPr bwMode="auto">
          <a:xfrm>
            <a:off x="0" y="4694667"/>
            <a:ext cx="1829344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effectLst/>
              <a:latin typeface="Bell MT" panose="02020503060305020303" pitchFamily="18" charset="0"/>
            </a:endParaRPr>
          </a:p>
        </p:txBody>
      </p:sp>
      <p:sp>
        <p:nvSpPr>
          <p:cNvPr id="8" name="TextBox 7">
            <a:extLst>
              <a:ext uri="{FF2B5EF4-FFF2-40B4-BE49-F238E27FC236}">
                <a16:creationId xmlns:a16="http://schemas.microsoft.com/office/drawing/2014/main" id="{DE8FA780-BC67-4892-90A2-1C89708BF4D0}"/>
              </a:ext>
            </a:extLst>
          </p:cNvPr>
          <p:cNvSpPr txBox="1"/>
          <p:nvPr/>
        </p:nvSpPr>
        <p:spPr>
          <a:xfrm>
            <a:off x="-1466850" y="9917668"/>
            <a:ext cx="1494064" cy="369332"/>
          </a:xfrm>
          <a:prstGeom prst="rect">
            <a:avLst/>
          </a:prstGeom>
          <a:noFill/>
        </p:spPr>
        <p:txBody>
          <a:bodyPr wrap="square">
            <a:spAutoFit/>
          </a:bodyPr>
          <a:lstStyle/>
          <a:p>
            <a:r>
              <a:rPr lang="en-IN" sz="1800" b="1" dirty="0">
                <a:solidFill>
                  <a:srgbClr val="1A237E"/>
                </a:solidFill>
                <a:latin typeface="Algerian" panose="04020705040A02060702" pitchFamily="82" charset="0"/>
              </a:rPr>
              <a:t>ABSTRACT</a:t>
            </a:r>
          </a:p>
        </p:txBody>
      </p:sp>
      <p:sp>
        <p:nvSpPr>
          <p:cNvPr id="3" name="TextBox 2">
            <a:extLst>
              <a:ext uri="{FF2B5EF4-FFF2-40B4-BE49-F238E27FC236}">
                <a16:creationId xmlns:a16="http://schemas.microsoft.com/office/drawing/2014/main" id="{374167E4-14AB-4B33-A0AA-4B2D3A67ACAA}"/>
              </a:ext>
            </a:extLst>
          </p:cNvPr>
          <p:cNvSpPr txBox="1"/>
          <p:nvPr/>
        </p:nvSpPr>
        <p:spPr>
          <a:xfrm>
            <a:off x="640081" y="1897380"/>
            <a:ext cx="10332719" cy="4389119"/>
          </a:xfrm>
          <a:prstGeom prst="rect">
            <a:avLst/>
          </a:prstGeom>
          <a:noFill/>
        </p:spPr>
        <p:txBody>
          <a:bodyPr wrap="square" rtlCol="0">
            <a:spAutoFit/>
          </a:bodyPr>
          <a:lstStyle/>
          <a:p>
            <a:endParaRPr lang="en-IN" dirty="0"/>
          </a:p>
        </p:txBody>
      </p:sp>
      <p:sp>
        <p:nvSpPr>
          <p:cNvPr id="6" name="Rectangle 3">
            <a:extLst>
              <a:ext uri="{FF2B5EF4-FFF2-40B4-BE49-F238E27FC236}">
                <a16:creationId xmlns:a16="http://schemas.microsoft.com/office/drawing/2014/main" id="{B1419E06-8D03-4641-AD79-0252196B59D8}"/>
              </a:ext>
            </a:extLst>
          </p:cNvPr>
          <p:cNvSpPr>
            <a:spLocks noChangeArrowheads="1"/>
          </p:cNvSpPr>
          <p:nvPr/>
        </p:nvSpPr>
        <p:spPr bwMode="auto">
          <a:xfrm>
            <a:off x="228600" y="1643744"/>
            <a:ext cx="17830800"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Brain hemorrhage is a severe medical condition caused by internal bleeding within the brain tissues or surrounding areas.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Early and accurate detection is vital to prevent brain damage and save lives.</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Traditionally, radiologists manually examine CT or MRI brain scans to detect hemorrhages — a process that is </a:t>
            </a:r>
            <a:r>
              <a:rPr kumimoji="0" lang="en-US" altLang="en-US" sz="3200" b="1" i="0" u="none" strike="noStrike" cap="none" normalizeH="0" dirty="0">
                <a:ln>
                  <a:noFill/>
                </a:ln>
                <a:solidFill>
                  <a:schemeClr val="tx1"/>
                </a:solidFill>
                <a:effectLst/>
                <a:latin typeface="Bell MT" panose="02020503060305020303" pitchFamily="18" charset="0"/>
                <a:cs typeface="Segoe UI Semibold" panose="020B0702040204020203" pitchFamily="34" charset="0"/>
              </a:rPr>
              <a:t>time-consuming</a:t>
            </a: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 </a:t>
            </a:r>
            <a:r>
              <a:rPr kumimoji="0" lang="en-US" altLang="en-US" sz="3200" b="1" i="0" u="none" strike="noStrike" cap="none" normalizeH="0" dirty="0">
                <a:ln>
                  <a:noFill/>
                </a:ln>
                <a:solidFill>
                  <a:schemeClr val="tx1"/>
                </a:solidFill>
                <a:effectLst/>
                <a:latin typeface="Bell MT" panose="02020503060305020303" pitchFamily="18" charset="0"/>
                <a:cs typeface="Segoe UI Semibold" panose="020B0702040204020203" pitchFamily="34" charset="0"/>
              </a:rPr>
              <a:t>subjective</a:t>
            </a: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 and </a:t>
            </a:r>
            <a:r>
              <a:rPr kumimoji="0" lang="en-US" altLang="en-US" sz="3200" b="1" i="0" u="none" strike="noStrike" cap="none" normalizeH="0" dirty="0">
                <a:ln>
                  <a:noFill/>
                </a:ln>
                <a:solidFill>
                  <a:schemeClr val="tx1"/>
                </a:solidFill>
                <a:effectLst/>
                <a:latin typeface="Bell MT" panose="02020503060305020303" pitchFamily="18" charset="0"/>
                <a:cs typeface="Segoe UI Semibold" panose="020B0702040204020203" pitchFamily="34" charset="0"/>
              </a:rPr>
              <a:t>prone to human error</a:t>
            </a: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With the rapid advancement of </a:t>
            </a:r>
            <a:r>
              <a:rPr kumimoji="0" lang="en-US" altLang="en-US" sz="3200" b="1" i="0" u="none" strike="noStrike" cap="none" normalizeH="0" dirty="0">
                <a:ln>
                  <a:noFill/>
                </a:ln>
                <a:solidFill>
                  <a:schemeClr val="tx1"/>
                </a:solidFill>
                <a:effectLst/>
                <a:latin typeface="Bell MT" panose="02020503060305020303" pitchFamily="18" charset="0"/>
                <a:cs typeface="Segoe UI Semibold" panose="020B0702040204020203" pitchFamily="34" charset="0"/>
              </a:rPr>
              <a:t>Artificial Intelligence (AI)</a:t>
            </a: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 particularly </a:t>
            </a:r>
            <a:r>
              <a:rPr kumimoji="0" lang="en-US" altLang="en-US" sz="3200" b="1" i="0" u="none" strike="noStrike" cap="none" normalizeH="0" dirty="0">
                <a:ln>
                  <a:noFill/>
                </a:ln>
                <a:solidFill>
                  <a:schemeClr val="tx1"/>
                </a:solidFill>
                <a:effectLst/>
                <a:latin typeface="Bell MT" panose="02020503060305020303" pitchFamily="18" charset="0"/>
                <a:cs typeface="Segoe UI Semibold" panose="020B0702040204020203" pitchFamily="34" charset="0"/>
              </a:rPr>
              <a:t>Machine Learning (ML)</a:t>
            </a: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 and </a:t>
            </a:r>
            <a:r>
              <a:rPr kumimoji="0" lang="en-US" altLang="en-US" sz="3200" b="1" i="0" u="none" strike="noStrike" cap="none" normalizeH="0" dirty="0">
                <a:ln>
                  <a:noFill/>
                </a:ln>
                <a:solidFill>
                  <a:schemeClr val="tx1"/>
                </a:solidFill>
                <a:effectLst/>
                <a:latin typeface="Bell MT" panose="02020503060305020303" pitchFamily="18" charset="0"/>
                <a:cs typeface="Segoe UI Semibold" panose="020B0702040204020203" pitchFamily="34" charset="0"/>
              </a:rPr>
              <a:t>Deep Learning (DL)</a:t>
            </a: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 it has become possible to </a:t>
            </a:r>
            <a:r>
              <a:rPr kumimoji="0" lang="en-US" altLang="en-US" sz="3200" b="1" i="0" u="none" strike="noStrike" cap="none" normalizeH="0" dirty="0">
                <a:ln>
                  <a:noFill/>
                </a:ln>
                <a:solidFill>
                  <a:schemeClr val="tx1"/>
                </a:solidFill>
                <a:effectLst/>
                <a:latin typeface="Bell MT" panose="02020503060305020303" pitchFamily="18" charset="0"/>
                <a:cs typeface="Segoe UI Semibold" panose="020B0702040204020203" pitchFamily="34" charset="0"/>
              </a:rPr>
              <a:t>automate medical image analysis</a:t>
            </a: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This project focuses on developing and comparing ML and DL models that can detect brain hemorrhage automatically from CT scan images with high accuracy.</a:t>
            </a: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dirty="0">
                <a:ln>
                  <a:noFill/>
                </a:ln>
                <a:solidFill>
                  <a:schemeClr val="tx1"/>
                </a:solidFill>
                <a:effectLst/>
                <a:latin typeface="Bell MT" panose="02020503060305020303" pitchFamily="18" charset="0"/>
                <a:cs typeface="Segoe UI Semibold" panose="020B0702040204020203" pitchFamily="34" charset="0"/>
              </a:rPr>
              <a:t>The aim is to support radiologists in making faster, more reliable, and data-driven diagnostic decisions.</a:t>
            </a:r>
          </a:p>
        </p:txBody>
      </p:sp>
    </p:spTree>
    <p:extLst>
      <p:ext uri="{BB962C8B-B14F-4D97-AF65-F5344CB8AC3E}">
        <p14:creationId xmlns:p14="http://schemas.microsoft.com/office/powerpoint/2010/main" val="4070070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144E2135-646B-4B69-9360-B3114B1F63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8321" y="-316235"/>
            <a:ext cx="1679679" cy="1954536"/>
          </a:xfrm>
          <a:prstGeom prst="rect">
            <a:avLst/>
          </a:prstGeom>
        </p:spPr>
      </p:pic>
      <p:sp>
        <p:nvSpPr>
          <p:cNvPr id="4" name="TextBox 3">
            <a:extLst>
              <a:ext uri="{FF2B5EF4-FFF2-40B4-BE49-F238E27FC236}">
                <a16:creationId xmlns:a16="http://schemas.microsoft.com/office/drawing/2014/main" id="{1DFF63F4-DA9E-407E-978D-385726D4B9C8}"/>
              </a:ext>
            </a:extLst>
          </p:cNvPr>
          <p:cNvSpPr txBox="1"/>
          <p:nvPr/>
        </p:nvSpPr>
        <p:spPr>
          <a:xfrm>
            <a:off x="457200" y="397014"/>
            <a:ext cx="6400800" cy="707886"/>
          </a:xfrm>
          <a:prstGeom prst="rect">
            <a:avLst/>
          </a:prstGeom>
          <a:noFill/>
        </p:spPr>
        <p:txBody>
          <a:bodyPr wrap="square" rtlCol="0">
            <a:spAutoFit/>
          </a:bodyPr>
          <a:lstStyle/>
          <a:p>
            <a:r>
              <a:rPr lang="en-IN" sz="4000" b="1" dirty="0">
                <a:solidFill>
                  <a:srgbClr val="1A237E"/>
                </a:solidFill>
                <a:latin typeface="Algerian" panose="04020705040A02060702" pitchFamily="82" charset="0"/>
              </a:rPr>
              <a:t>ABSTRACT</a:t>
            </a:r>
          </a:p>
        </p:txBody>
      </p:sp>
      <p:sp>
        <p:nvSpPr>
          <p:cNvPr id="9" name="TextBox 8">
            <a:extLst>
              <a:ext uri="{FF2B5EF4-FFF2-40B4-BE49-F238E27FC236}">
                <a16:creationId xmlns:a16="http://schemas.microsoft.com/office/drawing/2014/main" id="{0BCD9967-BCC5-4DFD-8A97-C7D55B223090}"/>
              </a:ext>
            </a:extLst>
          </p:cNvPr>
          <p:cNvSpPr txBox="1"/>
          <p:nvPr/>
        </p:nvSpPr>
        <p:spPr>
          <a:xfrm>
            <a:off x="-2514600" y="9845289"/>
            <a:ext cx="2667000" cy="369332"/>
          </a:xfrm>
          <a:prstGeom prst="rect">
            <a:avLst/>
          </a:prstGeom>
          <a:noFill/>
        </p:spPr>
        <p:txBody>
          <a:bodyPr wrap="square">
            <a:spAutoFit/>
          </a:bodyPr>
          <a:lstStyle/>
          <a:p>
            <a:r>
              <a:rPr lang="en-IN" sz="1800" dirty="0">
                <a:solidFill>
                  <a:srgbClr val="1A237E"/>
                </a:solidFill>
                <a:latin typeface="Algerian" panose="04020705040A02060702" pitchFamily="82" charset="0"/>
              </a:rPr>
              <a:t>EXISTING SYSTEM</a:t>
            </a:r>
          </a:p>
        </p:txBody>
      </p:sp>
      <p:sp>
        <p:nvSpPr>
          <p:cNvPr id="8" name="Rectangle 5">
            <a:extLst>
              <a:ext uri="{FF2B5EF4-FFF2-40B4-BE49-F238E27FC236}">
                <a16:creationId xmlns:a16="http://schemas.microsoft.com/office/drawing/2014/main" id="{60BB313E-2F08-4B3E-A0F5-DB8FEA99E8FA}"/>
              </a:ext>
            </a:extLst>
          </p:cNvPr>
          <p:cNvSpPr>
            <a:spLocks noChangeArrowheads="1"/>
          </p:cNvSpPr>
          <p:nvPr/>
        </p:nvSpPr>
        <p:spPr bwMode="auto">
          <a:xfrm>
            <a:off x="457200" y="1773346"/>
            <a:ext cx="10363200"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Brain hemorrhage is a life-threatening condition requiring early diagnosis.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This project proposes a Deep Learning-based CT image classification system.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Transfer Learning using </a:t>
            </a:r>
            <a:r>
              <a:rPr kumimoji="0" lang="en-US" altLang="en-US" sz="3600" b="1" i="0" u="none" strike="noStrike" cap="none" normalizeH="0" baseline="0" dirty="0">
                <a:ln>
                  <a:noFill/>
                </a:ln>
                <a:solidFill>
                  <a:schemeClr val="tx1"/>
                </a:solidFill>
                <a:effectLst/>
                <a:latin typeface="Bell MT" panose="02020503060305020303" pitchFamily="18" charset="0"/>
              </a:rPr>
              <a:t>InceptionV3</a:t>
            </a:r>
            <a:r>
              <a:rPr kumimoji="0" lang="en-US" altLang="en-US" sz="3600" b="0" i="0" u="none" strike="noStrike" cap="none" normalizeH="0" baseline="0" dirty="0">
                <a:ln>
                  <a:noFill/>
                </a:ln>
                <a:solidFill>
                  <a:schemeClr val="tx1"/>
                </a:solidFill>
                <a:effectLst/>
                <a:latin typeface="Bell MT" panose="02020503060305020303" pitchFamily="18" charset="0"/>
              </a:rPr>
              <a:t> is applied for feature extraction.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The system performs binary classification: </a:t>
            </a:r>
            <a:r>
              <a:rPr kumimoji="0" lang="en-US" altLang="en-US" sz="3600" b="0" i="1" u="none" strike="noStrike" cap="none" normalizeH="0" baseline="0" dirty="0">
                <a:ln>
                  <a:noFill/>
                </a:ln>
                <a:solidFill>
                  <a:schemeClr val="tx1"/>
                </a:solidFill>
                <a:effectLst/>
                <a:latin typeface="Bell MT" panose="02020503060305020303" pitchFamily="18" charset="0"/>
              </a:rPr>
              <a:t>Hemorrhage</a:t>
            </a:r>
            <a:r>
              <a:rPr kumimoji="0" lang="en-US" altLang="en-US" sz="3600" b="0" i="0" u="none" strike="noStrike" cap="none" normalizeH="0" baseline="0" dirty="0">
                <a:ln>
                  <a:noFill/>
                </a:ln>
                <a:solidFill>
                  <a:schemeClr val="tx1"/>
                </a:solidFill>
                <a:effectLst/>
                <a:latin typeface="Bell MT" panose="02020503060305020303" pitchFamily="18" charset="0"/>
              </a:rPr>
              <a:t> vs </a:t>
            </a:r>
            <a:r>
              <a:rPr kumimoji="0" lang="en-US" altLang="en-US" sz="3600" b="0" i="1" u="none" strike="noStrike" cap="none" normalizeH="0" baseline="0" dirty="0">
                <a:ln>
                  <a:noFill/>
                </a:ln>
                <a:solidFill>
                  <a:schemeClr val="tx1"/>
                </a:solidFill>
                <a:effectLst/>
                <a:latin typeface="Bell MT" panose="02020503060305020303" pitchFamily="18" charset="0"/>
              </a:rPr>
              <a:t>Normal</a:t>
            </a:r>
            <a:r>
              <a:rPr kumimoji="0" lang="en-US" altLang="en-US" sz="3600" b="0" i="0" u="none" strike="noStrike" cap="none" normalizeH="0" baseline="0" dirty="0">
                <a:ln>
                  <a:noFill/>
                </a:ln>
                <a:solidFill>
                  <a:schemeClr val="tx1"/>
                </a:solidFill>
                <a:effectLst/>
                <a:latin typeface="Bell MT" panose="02020503060305020303"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Image preprocessing and augmentation techniques improve model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Model evaluation is done using Accuracy, ROC Curve, Sensitivity, and Specificity.</a:t>
            </a:r>
          </a:p>
        </p:txBody>
      </p:sp>
      <p:pic>
        <p:nvPicPr>
          <p:cNvPr id="1026" name="Picture 2" descr="Brain Hemorrhage Medical Illustration 3D Anatomy Stroke Bleeding Neurological Disease">
            <a:extLst>
              <a:ext uri="{FF2B5EF4-FFF2-40B4-BE49-F238E27FC236}">
                <a16:creationId xmlns:a16="http://schemas.microsoft.com/office/drawing/2014/main" id="{161D2436-A847-4E88-A1C6-FBB055B8F4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4800" y="1691703"/>
            <a:ext cx="6324600" cy="380999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leeding in the Brain Life-Threatening">
            <a:extLst>
              <a:ext uri="{FF2B5EF4-FFF2-40B4-BE49-F238E27FC236}">
                <a16:creationId xmlns:a16="http://schemas.microsoft.com/office/drawing/2014/main" id="{6A2C4CCE-E04F-4686-BE10-F1C6DEB24F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44350" y="5905500"/>
            <a:ext cx="5905500" cy="3711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964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144E2135-646B-4B69-9360-B3114B1F63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8321" y="-316235"/>
            <a:ext cx="1679679" cy="1954536"/>
          </a:xfrm>
          <a:prstGeom prst="rect">
            <a:avLst/>
          </a:prstGeom>
        </p:spPr>
      </p:pic>
      <p:sp>
        <p:nvSpPr>
          <p:cNvPr id="4" name="TextBox 3">
            <a:extLst>
              <a:ext uri="{FF2B5EF4-FFF2-40B4-BE49-F238E27FC236}">
                <a16:creationId xmlns:a16="http://schemas.microsoft.com/office/drawing/2014/main" id="{1DFF63F4-DA9E-407E-978D-385726D4B9C8}"/>
              </a:ext>
            </a:extLst>
          </p:cNvPr>
          <p:cNvSpPr txBox="1"/>
          <p:nvPr/>
        </p:nvSpPr>
        <p:spPr>
          <a:xfrm>
            <a:off x="457200" y="397014"/>
            <a:ext cx="6400800" cy="707886"/>
          </a:xfrm>
          <a:prstGeom prst="rect">
            <a:avLst/>
          </a:prstGeom>
          <a:noFill/>
        </p:spPr>
        <p:txBody>
          <a:bodyPr wrap="square" rtlCol="0">
            <a:spAutoFit/>
          </a:bodyPr>
          <a:lstStyle/>
          <a:p>
            <a:r>
              <a:rPr lang="en-IN" sz="4000" b="1" dirty="0">
                <a:solidFill>
                  <a:srgbClr val="1A237E"/>
                </a:solidFill>
                <a:latin typeface="Algerian" panose="04020705040A02060702" pitchFamily="82" charset="0"/>
              </a:rPr>
              <a:t>OBJECTIVES</a:t>
            </a:r>
          </a:p>
        </p:txBody>
      </p:sp>
      <p:sp>
        <p:nvSpPr>
          <p:cNvPr id="9" name="TextBox 8">
            <a:extLst>
              <a:ext uri="{FF2B5EF4-FFF2-40B4-BE49-F238E27FC236}">
                <a16:creationId xmlns:a16="http://schemas.microsoft.com/office/drawing/2014/main" id="{0BCD9967-BCC5-4DFD-8A97-C7D55B223090}"/>
              </a:ext>
            </a:extLst>
          </p:cNvPr>
          <p:cNvSpPr txBox="1"/>
          <p:nvPr/>
        </p:nvSpPr>
        <p:spPr>
          <a:xfrm>
            <a:off x="-2514600" y="9845289"/>
            <a:ext cx="2667000" cy="369332"/>
          </a:xfrm>
          <a:prstGeom prst="rect">
            <a:avLst/>
          </a:prstGeom>
          <a:noFill/>
        </p:spPr>
        <p:txBody>
          <a:bodyPr wrap="square">
            <a:spAutoFit/>
          </a:bodyPr>
          <a:lstStyle/>
          <a:p>
            <a:r>
              <a:rPr lang="en-IN" sz="1800" dirty="0">
                <a:solidFill>
                  <a:srgbClr val="1A237E"/>
                </a:solidFill>
                <a:latin typeface="Algerian" panose="04020705040A02060702" pitchFamily="82" charset="0"/>
              </a:rPr>
              <a:t>EXISTING SYSTEM</a:t>
            </a:r>
          </a:p>
        </p:txBody>
      </p:sp>
      <p:sp>
        <p:nvSpPr>
          <p:cNvPr id="5" name="Rectangle 2">
            <a:extLst>
              <a:ext uri="{FF2B5EF4-FFF2-40B4-BE49-F238E27FC236}">
                <a16:creationId xmlns:a16="http://schemas.microsoft.com/office/drawing/2014/main" id="{C9E5CC16-DDA6-4C6A-993F-516D7779FCFA}"/>
              </a:ext>
            </a:extLst>
          </p:cNvPr>
          <p:cNvSpPr>
            <a:spLocks noChangeArrowheads="1"/>
          </p:cNvSpPr>
          <p:nvPr/>
        </p:nvSpPr>
        <p:spPr bwMode="auto">
          <a:xfrm>
            <a:off x="457200" y="1333500"/>
            <a:ext cx="15735300" cy="809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To design an automated brain hemorrhage detection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4000" b="0" i="0" u="none" strike="noStrike" cap="none" normalizeH="0" baseline="0" dirty="0">
              <a:ln>
                <a:noFill/>
              </a:ln>
              <a:solidFill>
                <a:schemeClr val="tx1"/>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To apply Deep Learning techniques for CT image classification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4000" b="0" i="0" u="none" strike="noStrike" cap="none" normalizeH="0" baseline="0" dirty="0">
              <a:ln>
                <a:noFill/>
              </a:ln>
              <a:solidFill>
                <a:schemeClr val="tx1"/>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To implement Transfer Learning using InceptionV3 for feature extraction.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4000" b="0" i="0" u="none" strike="noStrike" cap="none" normalizeH="0" baseline="0" dirty="0">
              <a:ln>
                <a:noFill/>
              </a:ln>
              <a:solidFill>
                <a:schemeClr val="tx1"/>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To improve diagnostic accuracy and reduce human error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4000" b="0" i="0" u="none" strike="noStrike" cap="none" normalizeH="0" baseline="0" dirty="0">
              <a:ln>
                <a:noFill/>
              </a:ln>
              <a:solidFill>
                <a:schemeClr val="tx1"/>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To assist radiologists in faster clinical decision-making.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4000" b="0" i="0" u="none" strike="noStrike" cap="none" normalizeH="0" baseline="0" dirty="0">
              <a:ln>
                <a:noFill/>
              </a:ln>
              <a:solidFill>
                <a:schemeClr val="tx1"/>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To develop a scalable and deployable web-based solution.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4000" b="0" i="0" u="none" strike="noStrike" cap="none" normalizeH="0" baseline="0" dirty="0">
              <a:ln>
                <a:noFill/>
              </a:ln>
              <a:solidFill>
                <a:schemeClr val="tx1"/>
              </a:solidFill>
              <a:effectLst/>
              <a:latin typeface="Bell MT" panose="02020503060305020303" pitchFamily="18" charset="0"/>
            </a:endParaRPr>
          </a:p>
        </p:txBody>
      </p:sp>
    </p:spTree>
    <p:extLst>
      <p:ext uri="{BB962C8B-B14F-4D97-AF65-F5344CB8AC3E}">
        <p14:creationId xmlns:p14="http://schemas.microsoft.com/office/powerpoint/2010/main" val="532545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octor brain scan">
            <a:extLst>
              <a:ext uri="{FF2B5EF4-FFF2-40B4-BE49-F238E27FC236}">
                <a16:creationId xmlns:a16="http://schemas.microsoft.com/office/drawing/2014/main" id="{EF0271CE-CB2D-42DB-91AD-69E20F57D7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771"/>
            <a:ext cx="9317935" cy="51435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T scan">
            <a:extLst>
              <a:ext uri="{FF2B5EF4-FFF2-40B4-BE49-F238E27FC236}">
                <a16:creationId xmlns:a16="http://schemas.microsoft.com/office/drawing/2014/main" id="{F4C7EE3B-1997-4C30-A2D9-638C7B387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7934" y="4909457"/>
            <a:ext cx="8970065" cy="537210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doctor in doctors office reviewing patients ct scan results at desk next to laptop">
            <a:extLst>
              <a:ext uri="{FF2B5EF4-FFF2-40B4-BE49-F238E27FC236}">
                <a16:creationId xmlns:a16="http://schemas.microsoft.com/office/drawing/2014/main" id="{9842FC7B-80D5-4EAA-ABD0-EDECE17B74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5181600"/>
            <a:ext cx="9317933" cy="5236678"/>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black female radiologist looking at a patientâs cat scan to write the report at the clinic - ct scan stock pictures, royalty-free photos &amp; images">
            <a:extLst>
              <a:ext uri="{FF2B5EF4-FFF2-40B4-BE49-F238E27FC236}">
                <a16:creationId xmlns:a16="http://schemas.microsoft.com/office/drawing/2014/main" id="{D241B54C-3E5E-4DC1-98E7-F298882A2C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17932" y="21771"/>
            <a:ext cx="8970068" cy="4857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275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F41190B-C3A3-4D92-BF58-CB7D4E6D0E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8321" y="-316235"/>
            <a:ext cx="1679679" cy="1954536"/>
          </a:xfrm>
          <a:prstGeom prst="rect">
            <a:avLst/>
          </a:prstGeom>
        </p:spPr>
      </p:pic>
      <p:sp>
        <p:nvSpPr>
          <p:cNvPr id="12" name="TextBox 11">
            <a:extLst>
              <a:ext uri="{FF2B5EF4-FFF2-40B4-BE49-F238E27FC236}">
                <a16:creationId xmlns:a16="http://schemas.microsoft.com/office/drawing/2014/main" id="{22FBB35D-8DA3-4462-9A46-7BD9ABCCEF12}"/>
              </a:ext>
            </a:extLst>
          </p:cNvPr>
          <p:cNvSpPr txBox="1"/>
          <p:nvPr/>
        </p:nvSpPr>
        <p:spPr>
          <a:xfrm>
            <a:off x="304800" y="556027"/>
            <a:ext cx="8686800" cy="784830"/>
          </a:xfrm>
          <a:prstGeom prst="rect">
            <a:avLst/>
          </a:prstGeom>
          <a:noFill/>
        </p:spPr>
        <p:txBody>
          <a:bodyPr wrap="square" rtlCol="0">
            <a:spAutoFit/>
          </a:bodyPr>
          <a:lstStyle/>
          <a:p>
            <a:r>
              <a:rPr lang="en-IN" sz="4500" dirty="0">
                <a:solidFill>
                  <a:srgbClr val="1A237E"/>
                </a:solidFill>
                <a:latin typeface="Algerian" panose="04020705040A02060702" pitchFamily="82" charset="0"/>
              </a:rPr>
              <a:t>EXISTING SYSTEM</a:t>
            </a:r>
          </a:p>
        </p:txBody>
      </p:sp>
      <p:sp>
        <p:nvSpPr>
          <p:cNvPr id="8" name="TextBox 7">
            <a:extLst>
              <a:ext uri="{FF2B5EF4-FFF2-40B4-BE49-F238E27FC236}">
                <a16:creationId xmlns:a16="http://schemas.microsoft.com/office/drawing/2014/main" id="{9C3B3756-E6CE-4C0B-902A-DE8C2C78CCBE}"/>
              </a:ext>
            </a:extLst>
          </p:cNvPr>
          <p:cNvSpPr txBox="1"/>
          <p:nvPr/>
        </p:nvSpPr>
        <p:spPr>
          <a:xfrm>
            <a:off x="457200" y="2019300"/>
            <a:ext cx="9601200" cy="784830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Brain hemorrhage diagnosis is primarily done through manual CT scan analysis.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Bell MT" panose="0202050306030502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Radiologists visually examine CT images to identify bleeding areas.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Bell MT" panose="0202050306030502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MRI, Angiography, and EEG are also used for neurological assessment.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Bell MT" panose="0202050306030502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Diagnosis depends heavily on expert interpretation.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Bell MT" panose="0202050306030502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No fully automated AI-based detection system in routine practice.</a:t>
            </a:r>
          </a:p>
        </p:txBody>
      </p:sp>
      <p:pic>
        <p:nvPicPr>
          <p:cNvPr id="2050" name="Picture 2" descr="CT scan Brain : Preparation, Procedure, Results, Price and Time Taken">
            <a:extLst>
              <a:ext uri="{FF2B5EF4-FFF2-40B4-BE49-F238E27FC236}">
                <a16:creationId xmlns:a16="http://schemas.microsoft.com/office/drawing/2014/main" id="{4715AC6A-DBA9-4927-AF16-91424B090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4200" y="2019300"/>
            <a:ext cx="7330374" cy="38753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T scan of brain, Show intracerebral hemorrhages.">
            <a:extLst>
              <a:ext uri="{FF2B5EF4-FFF2-40B4-BE49-F238E27FC236}">
                <a16:creationId xmlns:a16="http://schemas.microsoft.com/office/drawing/2014/main" id="{F5974353-2CC7-4811-9FDA-4D4D425235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44200" y="6515100"/>
            <a:ext cx="7330374"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810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F41190B-C3A3-4D92-BF58-CB7D4E6D0E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8321" y="-316235"/>
            <a:ext cx="1679679" cy="1954536"/>
          </a:xfrm>
          <a:prstGeom prst="rect">
            <a:avLst/>
          </a:prstGeom>
        </p:spPr>
      </p:pic>
      <p:sp>
        <p:nvSpPr>
          <p:cNvPr id="12" name="TextBox 11">
            <a:extLst>
              <a:ext uri="{FF2B5EF4-FFF2-40B4-BE49-F238E27FC236}">
                <a16:creationId xmlns:a16="http://schemas.microsoft.com/office/drawing/2014/main" id="{22FBB35D-8DA3-4462-9A46-7BD9ABCCEF12}"/>
              </a:ext>
            </a:extLst>
          </p:cNvPr>
          <p:cNvSpPr txBox="1"/>
          <p:nvPr/>
        </p:nvSpPr>
        <p:spPr>
          <a:xfrm>
            <a:off x="304800" y="556027"/>
            <a:ext cx="11277600" cy="784830"/>
          </a:xfrm>
          <a:prstGeom prst="rect">
            <a:avLst/>
          </a:prstGeom>
          <a:noFill/>
        </p:spPr>
        <p:txBody>
          <a:bodyPr wrap="square" rtlCol="0">
            <a:spAutoFit/>
          </a:bodyPr>
          <a:lstStyle/>
          <a:p>
            <a:r>
              <a:rPr lang="en-IN" sz="4500" dirty="0">
                <a:solidFill>
                  <a:srgbClr val="1A237E"/>
                </a:solidFill>
                <a:latin typeface="Algerian" panose="04020705040A02060702" pitchFamily="82" charset="0"/>
              </a:rPr>
              <a:t>Draw backs of EXISTING SYSTEM</a:t>
            </a:r>
          </a:p>
        </p:txBody>
      </p:sp>
      <p:sp>
        <p:nvSpPr>
          <p:cNvPr id="9" name="TextBox 8">
            <a:extLst>
              <a:ext uri="{FF2B5EF4-FFF2-40B4-BE49-F238E27FC236}">
                <a16:creationId xmlns:a16="http://schemas.microsoft.com/office/drawing/2014/main" id="{C6C2463D-F709-436C-8CD4-9CAF044F22AE}"/>
              </a:ext>
            </a:extLst>
          </p:cNvPr>
          <p:cNvSpPr txBox="1"/>
          <p:nvPr/>
        </p:nvSpPr>
        <p:spPr>
          <a:xfrm>
            <a:off x="533400" y="2526225"/>
            <a:ext cx="14173200" cy="5709255"/>
          </a:xfrm>
          <a:prstGeom prst="rect">
            <a:avLst/>
          </a:prstGeom>
          <a:noFill/>
        </p:spPr>
        <p:txBody>
          <a:bodyPr wrap="square">
            <a:spAutoFit/>
          </a:bodyPr>
          <a:lstStyle/>
          <a:p>
            <a:pPr marL="0" marR="0" lvl="0" indent="0" algn="l" defTabSz="914400" rtl="0" eaLnBrk="0" fontAlgn="base" latinLnBrk="0" hangingPunct="0">
              <a:spcBef>
                <a:spcPct val="0"/>
              </a:spcBef>
              <a:spcAft>
                <a:spcPts val="300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Manual analysis is time-consuming and delays diagnosis.</a:t>
            </a:r>
          </a:p>
          <a:p>
            <a:pPr marL="0" marR="0" lvl="0" indent="0" algn="l" defTabSz="914400" rtl="0" eaLnBrk="0" fontAlgn="base" latinLnBrk="0" hangingPunct="0">
              <a:spcBef>
                <a:spcPct val="0"/>
              </a:spcBef>
              <a:spcAft>
                <a:spcPts val="300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High dependency on experienced radiologists.</a:t>
            </a:r>
          </a:p>
          <a:p>
            <a:pPr marL="0" marR="0" lvl="0" indent="0" algn="l" defTabSz="914400" rtl="0" eaLnBrk="0" fontAlgn="base" latinLnBrk="0" hangingPunct="0">
              <a:spcBef>
                <a:spcPct val="0"/>
              </a:spcBef>
              <a:spcAft>
                <a:spcPts val="300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Possibility of human error in interpretation.</a:t>
            </a:r>
          </a:p>
          <a:p>
            <a:pPr marL="0" marR="0" lvl="0" indent="0" algn="l" defTabSz="914400" rtl="0" eaLnBrk="0" fontAlgn="base" latinLnBrk="0" hangingPunct="0">
              <a:spcBef>
                <a:spcPct val="0"/>
              </a:spcBef>
              <a:spcAft>
                <a:spcPts val="300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Large volume of CT scans increases workload.</a:t>
            </a:r>
          </a:p>
          <a:p>
            <a:pPr marL="0" marR="0" lvl="0" indent="0" algn="l" defTabSz="914400" rtl="0" eaLnBrk="0" fontAlgn="base" latinLnBrk="0" hangingPunct="0">
              <a:spcBef>
                <a:spcPct val="0"/>
              </a:spcBef>
              <a:spcAft>
                <a:spcPts val="300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Expensive diagnostic procedures in some cases.</a:t>
            </a:r>
          </a:p>
          <a:p>
            <a:pPr marL="0" marR="0" lvl="0" indent="0" algn="l" defTabSz="914400" rtl="0" eaLnBrk="0" fontAlgn="base" latinLnBrk="0" hangingPunct="0">
              <a:spcBef>
                <a:spcPct val="0"/>
              </a:spcBef>
              <a:spcAft>
                <a:spcPts val="3000"/>
              </a:spcAft>
              <a:buClrTx/>
              <a:buSzTx/>
              <a:buFontTx/>
              <a:buChar char="•"/>
              <a:tabLst/>
            </a:pPr>
            <a:r>
              <a:rPr kumimoji="0" lang="en-US" altLang="en-US" sz="4000" b="0" i="0" u="none" strike="noStrike" cap="none" normalizeH="0" baseline="0" dirty="0">
                <a:ln>
                  <a:noFill/>
                </a:ln>
                <a:solidFill>
                  <a:schemeClr val="tx1"/>
                </a:solidFill>
                <a:effectLst/>
                <a:latin typeface="Bell MT" panose="02020503060305020303" pitchFamily="18" charset="0"/>
              </a:rPr>
              <a:t>Limited accessibility in rural or under-equipped hospitals.</a:t>
            </a:r>
          </a:p>
        </p:txBody>
      </p:sp>
      <p:pic>
        <p:nvPicPr>
          <p:cNvPr id="3074" name="Picture 2" descr="Tachometer high and low risk, pointer is showing to the red risky scale, financial credit and business score Tachometer high and low risk, pointer is showing to the red risky scale, financial credit and business scores low productivity stock pictures, royalty-free photos &amp; images">
            <a:extLst>
              <a:ext uri="{FF2B5EF4-FFF2-40B4-BE49-F238E27FC236}">
                <a16:creationId xmlns:a16="http://schemas.microsoft.com/office/drawing/2014/main" id="{19A0A350-DAC5-4CC9-8ED6-E67C330140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8492" y="3467100"/>
            <a:ext cx="6923303" cy="3613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897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F41190B-C3A3-4D92-BF58-CB7D4E6D0E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58251" y="-581795"/>
            <a:ext cx="2226469" cy="2590801"/>
          </a:xfrm>
          <a:prstGeom prst="rect">
            <a:avLst/>
          </a:prstGeom>
        </p:spPr>
      </p:pic>
      <p:sp>
        <p:nvSpPr>
          <p:cNvPr id="12" name="TextBox 11">
            <a:extLst>
              <a:ext uri="{FF2B5EF4-FFF2-40B4-BE49-F238E27FC236}">
                <a16:creationId xmlns:a16="http://schemas.microsoft.com/office/drawing/2014/main" id="{22FBB35D-8DA3-4462-9A46-7BD9ABCCEF12}"/>
              </a:ext>
            </a:extLst>
          </p:cNvPr>
          <p:cNvSpPr txBox="1"/>
          <p:nvPr/>
        </p:nvSpPr>
        <p:spPr>
          <a:xfrm>
            <a:off x="838200" y="647700"/>
            <a:ext cx="6019800" cy="784830"/>
          </a:xfrm>
          <a:prstGeom prst="rect">
            <a:avLst/>
          </a:prstGeom>
          <a:noFill/>
        </p:spPr>
        <p:txBody>
          <a:bodyPr wrap="square" rtlCol="0">
            <a:spAutoFit/>
          </a:bodyPr>
          <a:lstStyle/>
          <a:p>
            <a:r>
              <a:rPr lang="en-IN" sz="4500" dirty="0">
                <a:solidFill>
                  <a:srgbClr val="0B2545"/>
                </a:solidFill>
                <a:latin typeface="Algerian" panose="04020705040A02060702" pitchFamily="82" charset="0"/>
              </a:rPr>
              <a:t>PROPOSED SYSTEM</a:t>
            </a:r>
          </a:p>
        </p:txBody>
      </p:sp>
      <p:sp>
        <p:nvSpPr>
          <p:cNvPr id="8" name="TextBox 7">
            <a:extLst>
              <a:ext uri="{FF2B5EF4-FFF2-40B4-BE49-F238E27FC236}">
                <a16:creationId xmlns:a16="http://schemas.microsoft.com/office/drawing/2014/main" id="{AF609A2C-673F-4FDD-8820-A3D0C31A268C}"/>
              </a:ext>
            </a:extLst>
          </p:cNvPr>
          <p:cNvSpPr txBox="1"/>
          <p:nvPr/>
        </p:nvSpPr>
        <p:spPr>
          <a:xfrm>
            <a:off x="533400" y="2050345"/>
            <a:ext cx="16002000" cy="618630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Bell MT" panose="02020503060305020303" pitchFamily="18" charset="0"/>
              </a:rPr>
              <a:t>An automated Deep Learning-based brain hemorrhage detection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Bell MT" panose="02020503060305020303" pitchFamily="18" charset="0"/>
              </a:rPr>
              <a:t>CT scan images are used as input for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Bell MT" panose="02020503060305020303" pitchFamily="18" charset="0"/>
              </a:rPr>
              <a:t>Image preprocessing and data augmentation are applied.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Bell MT" panose="02020503060305020303" pitchFamily="18" charset="0"/>
              </a:rPr>
              <a:t>Transfer Learning using </a:t>
            </a:r>
            <a:r>
              <a:rPr kumimoji="0" lang="en-US" altLang="en-US" sz="4400" b="1" i="0" u="none" strike="noStrike" cap="none" normalizeH="0" baseline="0" dirty="0">
                <a:ln>
                  <a:noFill/>
                </a:ln>
                <a:solidFill>
                  <a:schemeClr val="tx1"/>
                </a:solidFill>
                <a:effectLst/>
                <a:latin typeface="Bell MT" panose="02020503060305020303" pitchFamily="18" charset="0"/>
              </a:rPr>
              <a:t>InceptionV3</a:t>
            </a:r>
            <a:r>
              <a:rPr kumimoji="0" lang="en-US" altLang="en-US" sz="4400" b="0" i="0" u="none" strike="noStrike" cap="none" normalizeH="0" baseline="0" dirty="0">
                <a:ln>
                  <a:noFill/>
                </a:ln>
                <a:solidFill>
                  <a:schemeClr val="tx1"/>
                </a:solidFill>
                <a:effectLst/>
                <a:latin typeface="Bell MT" panose="02020503060305020303" pitchFamily="18" charset="0"/>
              </a:rPr>
              <a:t> model for feature extraction.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Bell MT" panose="02020503060305020303" pitchFamily="18" charset="0"/>
              </a:rPr>
              <a:t>Binary classification: </a:t>
            </a:r>
            <a:r>
              <a:rPr kumimoji="0" lang="en-US" altLang="en-US" sz="4400" b="0" i="1" u="none" strike="noStrike" cap="none" normalizeH="0" baseline="0" dirty="0">
                <a:ln>
                  <a:noFill/>
                </a:ln>
                <a:solidFill>
                  <a:schemeClr val="tx1"/>
                </a:solidFill>
                <a:effectLst/>
                <a:latin typeface="Bell MT" panose="02020503060305020303" pitchFamily="18" charset="0"/>
              </a:rPr>
              <a:t>Hemorrhage</a:t>
            </a:r>
            <a:r>
              <a:rPr kumimoji="0" lang="en-US" altLang="en-US" sz="4400" b="0" i="0" u="none" strike="noStrike" cap="none" normalizeH="0" baseline="0" dirty="0">
                <a:ln>
                  <a:noFill/>
                </a:ln>
                <a:solidFill>
                  <a:schemeClr val="tx1"/>
                </a:solidFill>
                <a:effectLst/>
                <a:latin typeface="Bell MT" panose="02020503060305020303" pitchFamily="18" charset="0"/>
              </a:rPr>
              <a:t> vs </a:t>
            </a:r>
            <a:r>
              <a:rPr kumimoji="0" lang="en-US" altLang="en-US" sz="4400" b="0" i="1" u="none" strike="noStrike" cap="none" normalizeH="0" baseline="0" dirty="0">
                <a:ln>
                  <a:noFill/>
                </a:ln>
                <a:solidFill>
                  <a:schemeClr val="tx1"/>
                </a:solidFill>
                <a:effectLst/>
                <a:latin typeface="Bell MT" panose="02020503060305020303" pitchFamily="18" charset="0"/>
              </a:rPr>
              <a:t>Normal</a:t>
            </a:r>
            <a:r>
              <a:rPr kumimoji="0" lang="en-US" altLang="en-US" sz="4400" b="0" i="0" u="none" strike="noStrike" cap="none" normalizeH="0" baseline="0" dirty="0">
                <a:ln>
                  <a:noFill/>
                </a:ln>
                <a:solidFill>
                  <a:schemeClr val="tx1"/>
                </a:solidFill>
                <a:effectLst/>
                <a:latin typeface="Bell MT" panose="02020503060305020303"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Bell MT" panose="02020503060305020303" pitchFamily="18" charset="0"/>
              </a:rPr>
              <a:t>Model evaluation using Accuracy, Sensitivity, Specificity, and ROC Curve.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Bell MT" panose="02020503060305020303" pitchFamily="18" charset="0"/>
              </a:rPr>
              <a:t>Deployment using Flask for web-based prediction.</a:t>
            </a:r>
          </a:p>
        </p:txBody>
      </p:sp>
    </p:spTree>
    <p:extLst>
      <p:ext uri="{BB962C8B-B14F-4D97-AF65-F5344CB8AC3E}">
        <p14:creationId xmlns:p14="http://schemas.microsoft.com/office/powerpoint/2010/main" val="3911112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99F03E-F10C-45E9-BA75-3F222E7210BD}"/>
              </a:ext>
            </a:extLst>
          </p:cNvPr>
          <p:cNvSpPr txBox="1"/>
          <p:nvPr/>
        </p:nvSpPr>
        <p:spPr>
          <a:xfrm>
            <a:off x="228600" y="885599"/>
            <a:ext cx="10820400" cy="784830"/>
          </a:xfrm>
          <a:prstGeom prst="rect">
            <a:avLst/>
          </a:prstGeom>
          <a:noFill/>
        </p:spPr>
        <p:txBody>
          <a:bodyPr wrap="square" rtlCol="0">
            <a:spAutoFit/>
          </a:bodyPr>
          <a:lstStyle/>
          <a:p>
            <a:r>
              <a:rPr lang="en-IN" sz="4500" dirty="0">
                <a:solidFill>
                  <a:srgbClr val="1A237E"/>
                </a:solidFill>
                <a:latin typeface="Algerian" panose="04020705040A02060702" pitchFamily="82" charset="0"/>
              </a:rPr>
              <a:t>Advantages of proposed system</a:t>
            </a:r>
          </a:p>
        </p:txBody>
      </p:sp>
      <p:pic>
        <p:nvPicPr>
          <p:cNvPr id="44" name="Picture 43">
            <a:extLst>
              <a:ext uri="{FF2B5EF4-FFF2-40B4-BE49-F238E27FC236}">
                <a16:creationId xmlns:a16="http://schemas.microsoft.com/office/drawing/2014/main" id="{0418B8D2-B2B1-44EC-B9D5-88C5F72FA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43114" y="-53646"/>
            <a:ext cx="1910200" cy="2222778"/>
          </a:xfrm>
          <a:prstGeom prst="rect">
            <a:avLst/>
          </a:prstGeom>
        </p:spPr>
      </p:pic>
      <p:sp>
        <p:nvSpPr>
          <p:cNvPr id="9" name="TextBox 8">
            <a:extLst>
              <a:ext uri="{FF2B5EF4-FFF2-40B4-BE49-F238E27FC236}">
                <a16:creationId xmlns:a16="http://schemas.microsoft.com/office/drawing/2014/main" id="{4BD7E390-BB09-444D-8EAD-C4792C624184}"/>
              </a:ext>
            </a:extLst>
          </p:cNvPr>
          <p:cNvSpPr txBox="1"/>
          <p:nvPr/>
        </p:nvSpPr>
        <p:spPr>
          <a:xfrm flipV="1">
            <a:off x="17678400" y="9791700"/>
            <a:ext cx="3243943" cy="369332"/>
          </a:xfrm>
          <a:prstGeom prst="rect">
            <a:avLst/>
          </a:prstGeom>
          <a:noFill/>
        </p:spPr>
        <p:txBody>
          <a:bodyPr wrap="square">
            <a:spAutoFit/>
          </a:bodyPr>
          <a:lstStyle/>
          <a:p>
            <a:r>
              <a:rPr lang="en-IN" sz="1800" dirty="0">
                <a:solidFill>
                  <a:srgbClr val="0B2545"/>
                </a:solidFill>
                <a:latin typeface="Algerian" panose="04020705040A02060702" pitchFamily="82" charset="0"/>
              </a:rPr>
              <a:t>ALGORITHMS USED</a:t>
            </a:r>
          </a:p>
        </p:txBody>
      </p:sp>
      <p:sp>
        <p:nvSpPr>
          <p:cNvPr id="6" name="Rectangle 3">
            <a:extLst>
              <a:ext uri="{FF2B5EF4-FFF2-40B4-BE49-F238E27FC236}">
                <a16:creationId xmlns:a16="http://schemas.microsoft.com/office/drawing/2014/main" id="{E897EDC5-557B-4913-9C22-4A6FDB0D2CAF}"/>
              </a:ext>
            </a:extLst>
          </p:cNvPr>
          <p:cNvSpPr>
            <a:spLocks noChangeArrowheads="1"/>
          </p:cNvSpPr>
          <p:nvPr/>
        </p:nvSpPr>
        <p:spPr bwMode="auto">
          <a:xfrm>
            <a:off x="0" y="1494743"/>
            <a:ext cx="10515600" cy="8328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algn="just" eaLnBrk="0" fontAlgn="base" hangingPunct="0">
              <a:lnSpc>
                <a:spcPct val="150000"/>
              </a:lnSpc>
              <a:spcBef>
                <a:spcPct val="0"/>
              </a:spcBef>
              <a:spcAft>
                <a:spcPct val="0"/>
              </a:spcAft>
              <a:buFontTx/>
              <a:buChar char="•"/>
            </a:pPr>
            <a:r>
              <a:rPr kumimoji="0" lang="en-US" altLang="en-US" sz="3600" b="0" i="0" u="none" strike="noStrike" cap="none" normalizeH="0" baseline="0" dirty="0">
                <a:ln>
                  <a:noFill/>
                </a:ln>
                <a:solidFill>
                  <a:schemeClr val="tx1"/>
                </a:solidFill>
                <a:effectLst/>
                <a:latin typeface="Bell MT" panose="02020503060305020303" pitchFamily="18" charset="0"/>
              </a:rPr>
              <a:t>Reduces diagnostic time and speeds up clinical decision-making.</a:t>
            </a:r>
          </a:p>
          <a:p>
            <a:pPr lvl="1" algn="just" eaLnBrk="0" fontAlgn="base" hangingPunct="0">
              <a:lnSpc>
                <a:spcPct val="150000"/>
              </a:lnSpc>
              <a:spcBef>
                <a:spcPct val="0"/>
              </a:spcBef>
              <a:spcAft>
                <a:spcPct val="0"/>
              </a:spcAft>
              <a:buFontTx/>
              <a:buChar char="•"/>
            </a:pPr>
            <a:r>
              <a:rPr kumimoji="0" lang="en-US" altLang="en-US" sz="3600" b="0" i="0" u="none" strike="noStrike" cap="none" normalizeH="0" baseline="0" dirty="0">
                <a:ln>
                  <a:noFill/>
                </a:ln>
                <a:solidFill>
                  <a:schemeClr val="tx1"/>
                </a:solidFill>
                <a:effectLst/>
                <a:latin typeface="Bell MT" panose="02020503060305020303" pitchFamily="18" charset="0"/>
              </a:rPr>
              <a:t>High accuracy using CNN-based deep learning models.</a:t>
            </a:r>
          </a:p>
          <a:p>
            <a:pPr lvl="1" algn="just" eaLnBrk="0" fontAlgn="base" hangingPunct="0">
              <a:lnSpc>
                <a:spcPct val="150000"/>
              </a:lnSpc>
              <a:spcBef>
                <a:spcPct val="0"/>
              </a:spcBef>
              <a:spcAft>
                <a:spcPct val="0"/>
              </a:spcAft>
              <a:buFontTx/>
              <a:buChar char="•"/>
            </a:pPr>
            <a:r>
              <a:rPr kumimoji="0" lang="en-US" altLang="en-US" sz="3600" b="0" i="0" u="none" strike="noStrike" cap="none" normalizeH="0" baseline="0" dirty="0">
                <a:ln>
                  <a:noFill/>
                </a:ln>
                <a:solidFill>
                  <a:schemeClr val="tx1"/>
                </a:solidFill>
                <a:effectLst/>
                <a:latin typeface="Bell MT" panose="02020503060305020303" pitchFamily="18" charset="0"/>
              </a:rPr>
              <a:t>Can handle large volumes of CT scan data efficiently.</a:t>
            </a:r>
          </a:p>
          <a:p>
            <a:pPr lvl="1" algn="just" eaLnBrk="0" fontAlgn="base" hangingPunct="0">
              <a:lnSpc>
                <a:spcPct val="150000"/>
              </a:lnSpc>
              <a:spcBef>
                <a:spcPct val="0"/>
              </a:spcBef>
              <a:spcAft>
                <a:spcPct val="0"/>
              </a:spcAft>
              <a:buFontTx/>
              <a:buChar char="•"/>
            </a:pPr>
            <a:r>
              <a:rPr kumimoji="0" lang="en-US" altLang="en-US" sz="3600" b="0" i="0" u="none" strike="noStrike" cap="none" normalizeH="0" baseline="0" dirty="0">
                <a:ln>
                  <a:noFill/>
                </a:ln>
                <a:solidFill>
                  <a:schemeClr val="tx1"/>
                </a:solidFill>
                <a:effectLst/>
                <a:latin typeface="Bell MT" panose="02020503060305020303" pitchFamily="18" charset="0"/>
              </a:rPr>
              <a:t>Provides consistent and automated detection results.</a:t>
            </a:r>
          </a:p>
          <a:p>
            <a:pPr lvl="1" algn="just" eaLnBrk="0" fontAlgn="base" hangingPunct="0">
              <a:lnSpc>
                <a:spcPct val="150000"/>
              </a:lnSpc>
              <a:spcBef>
                <a:spcPct val="0"/>
              </a:spcBef>
              <a:spcAft>
                <a:spcPct val="0"/>
              </a:spcAft>
              <a:buFontTx/>
              <a:buChar char="•"/>
            </a:pPr>
            <a:r>
              <a:rPr kumimoji="0" lang="en-US" altLang="en-US" sz="3600" b="0" i="0" u="none" strike="noStrike" cap="none" normalizeH="0" baseline="0" dirty="0">
                <a:ln>
                  <a:noFill/>
                </a:ln>
                <a:solidFill>
                  <a:schemeClr val="tx1"/>
                </a:solidFill>
                <a:effectLst/>
                <a:latin typeface="Bell MT" panose="02020503060305020303" pitchFamily="18" charset="0"/>
              </a:rPr>
              <a:t>Supports radiologists by serving as a reliable diagnostic aid.</a:t>
            </a:r>
          </a:p>
        </p:txBody>
      </p:sp>
      <p:pic>
        <p:nvPicPr>
          <p:cNvPr id="4098" name="Picture 2" descr="Efficiency Business Concept Stock Photo">
            <a:extLst>
              <a:ext uri="{FF2B5EF4-FFF2-40B4-BE49-F238E27FC236}">
                <a16:creationId xmlns:a16="http://schemas.microsoft.com/office/drawing/2014/main" id="{A0B15917-F2B7-4D33-B10C-1B73C18A79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142"/>
          <a:stretch/>
        </p:blipFill>
        <p:spPr bwMode="auto">
          <a:xfrm>
            <a:off x="11177528" y="3009900"/>
            <a:ext cx="6500872" cy="4693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727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99F03E-F10C-45E9-BA75-3F222E7210BD}"/>
              </a:ext>
            </a:extLst>
          </p:cNvPr>
          <p:cNvSpPr txBox="1"/>
          <p:nvPr/>
        </p:nvSpPr>
        <p:spPr>
          <a:xfrm>
            <a:off x="0" y="7688"/>
            <a:ext cx="7086600" cy="784830"/>
          </a:xfrm>
          <a:prstGeom prst="rect">
            <a:avLst/>
          </a:prstGeom>
          <a:noFill/>
        </p:spPr>
        <p:txBody>
          <a:bodyPr wrap="square" rtlCol="0">
            <a:spAutoFit/>
          </a:bodyPr>
          <a:lstStyle/>
          <a:p>
            <a:r>
              <a:rPr lang="en-IN" sz="4500" dirty="0">
                <a:solidFill>
                  <a:srgbClr val="0B2545"/>
                </a:solidFill>
                <a:latin typeface="Algerian" panose="04020705040A02060702" pitchFamily="82" charset="0"/>
              </a:rPr>
              <a:t>ALGORITHMS USED</a:t>
            </a:r>
          </a:p>
        </p:txBody>
      </p:sp>
      <p:pic>
        <p:nvPicPr>
          <p:cNvPr id="5" name="Picture 4">
            <a:extLst>
              <a:ext uri="{FF2B5EF4-FFF2-40B4-BE49-F238E27FC236}">
                <a16:creationId xmlns:a16="http://schemas.microsoft.com/office/drawing/2014/main" id="{49C64F6A-4815-42C1-A7E9-209D6090DA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49859" y="-358735"/>
            <a:ext cx="1524000" cy="1773382"/>
          </a:xfrm>
          <a:prstGeom prst="rect">
            <a:avLst/>
          </a:prstGeom>
        </p:spPr>
      </p:pic>
      <p:sp>
        <p:nvSpPr>
          <p:cNvPr id="2" name="TextBox 1">
            <a:extLst>
              <a:ext uri="{FF2B5EF4-FFF2-40B4-BE49-F238E27FC236}">
                <a16:creationId xmlns:a16="http://schemas.microsoft.com/office/drawing/2014/main" id="{AF20734C-6B6A-4DAF-AAB7-8082EA5C832D}"/>
              </a:ext>
            </a:extLst>
          </p:cNvPr>
          <p:cNvSpPr txBox="1"/>
          <p:nvPr/>
        </p:nvSpPr>
        <p:spPr>
          <a:xfrm>
            <a:off x="1935481" y="3009900"/>
            <a:ext cx="45719" cy="369332"/>
          </a:xfrm>
          <a:prstGeom prst="rect">
            <a:avLst/>
          </a:prstGeom>
          <a:noFill/>
        </p:spPr>
        <p:txBody>
          <a:bodyPr wrap="square" rtlCol="0">
            <a:spAutoFit/>
          </a:bodyPr>
          <a:lstStyle/>
          <a:p>
            <a:endParaRPr lang="en-IN" dirty="0"/>
          </a:p>
        </p:txBody>
      </p:sp>
      <p:sp>
        <p:nvSpPr>
          <p:cNvPr id="4" name="Rectangle 1">
            <a:extLst>
              <a:ext uri="{FF2B5EF4-FFF2-40B4-BE49-F238E27FC236}">
                <a16:creationId xmlns:a16="http://schemas.microsoft.com/office/drawing/2014/main" id="{CC5BD2AE-3B23-4B3B-84ED-688582A7E7E4}"/>
              </a:ext>
            </a:extLst>
          </p:cNvPr>
          <p:cNvSpPr>
            <a:spLocks noChangeArrowheads="1"/>
          </p:cNvSpPr>
          <p:nvPr/>
        </p:nvSpPr>
        <p:spPr bwMode="auto">
          <a:xfrm>
            <a:off x="35380" y="1700652"/>
            <a:ext cx="17433471" cy="809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2" anchor="ctr" anchorCtr="0" compatLnSpc="1">
            <a:prstTxWarp prst="textNoShape">
              <a:avLst/>
            </a:prstTxWarp>
            <a:spAutoFit/>
          </a:bodyPr>
          <a:lstStyle/>
          <a:p>
            <a:r>
              <a:rPr lang="en-IN" sz="3200" b="1" dirty="0">
                <a:latin typeface="Bell MT" panose="02020503060305020303" pitchFamily="18" charset="0"/>
              </a:rPr>
              <a:t>1️⃣ Convolutional Neural Network (CNN)</a:t>
            </a:r>
          </a:p>
          <a:p>
            <a:pPr>
              <a:buFont typeface="Arial" panose="020B0604020202020204" pitchFamily="34" charset="0"/>
              <a:buChar char="•"/>
            </a:pPr>
            <a:r>
              <a:rPr lang="en-IN" sz="3200" dirty="0">
                <a:latin typeface="Bell MT" panose="02020503060305020303" pitchFamily="18" charset="0"/>
              </a:rPr>
              <a:t>Used for automatic feature extraction from CT scan images.</a:t>
            </a:r>
          </a:p>
          <a:p>
            <a:pPr>
              <a:buFont typeface="Arial" panose="020B0604020202020204" pitchFamily="34" charset="0"/>
              <a:buChar char="•"/>
            </a:pPr>
            <a:r>
              <a:rPr lang="en-IN" sz="3200" dirty="0">
                <a:latin typeface="Bell MT" panose="02020503060305020303" pitchFamily="18" charset="0"/>
              </a:rPr>
              <a:t>Detects important patterns like edges, textures, and bleeding regions.</a:t>
            </a:r>
          </a:p>
          <a:p>
            <a:r>
              <a:rPr lang="en-IN" sz="3200" b="1" dirty="0">
                <a:latin typeface="Bell MT" panose="02020503060305020303" pitchFamily="18" charset="0"/>
              </a:rPr>
              <a:t>2️⃣ Transfer Learning</a:t>
            </a:r>
          </a:p>
          <a:p>
            <a:pPr>
              <a:buFont typeface="Arial" panose="020B0604020202020204" pitchFamily="34" charset="0"/>
              <a:buChar char="•"/>
            </a:pPr>
            <a:r>
              <a:rPr lang="en-IN" sz="3200" dirty="0">
                <a:latin typeface="Bell MT" panose="02020503060305020303" pitchFamily="18" charset="0"/>
              </a:rPr>
              <a:t>Pre-trained weights from ImageNet are reused.</a:t>
            </a:r>
          </a:p>
          <a:p>
            <a:pPr>
              <a:buFont typeface="Arial" panose="020B0604020202020204" pitchFamily="34" charset="0"/>
              <a:buChar char="•"/>
            </a:pPr>
            <a:r>
              <a:rPr lang="en-IN" sz="3200" dirty="0">
                <a:latin typeface="Bell MT" panose="02020503060305020303" pitchFamily="18" charset="0"/>
              </a:rPr>
              <a:t>Reduces training time and improves accuracy with limited medical data.</a:t>
            </a:r>
          </a:p>
          <a:p>
            <a:r>
              <a:rPr lang="en-IN" sz="3200" b="1" dirty="0">
                <a:latin typeface="Bell MT" panose="02020503060305020303" pitchFamily="18" charset="0"/>
              </a:rPr>
              <a:t>3️⃣ InceptionV3 Architecture</a:t>
            </a:r>
          </a:p>
          <a:p>
            <a:pPr>
              <a:buFont typeface="Arial" panose="020B0604020202020204" pitchFamily="34" charset="0"/>
              <a:buChar char="•"/>
            </a:pPr>
            <a:r>
              <a:rPr lang="en-IN" sz="3200" dirty="0">
                <a:latin typeface="Bell MT" panose="02020503060305020303" pitchFamily="18" charset="0"/>
              </a:rPr>
              <a:t>Acts as the base model for deep feature extraction.</a:t>
            </a:r>
          </a:p>
          <a:p>
            <a:pPr>
              <a:buFont typeface="Arial" panose="020B0604020202020204" pitchFamily="34" charset="0"/>
              <a:buChar char="•"/>
            </a:pPr>
            <a:r>
              <a:rPr lang="en-IN" sz="3200" dirty="0">
                <a:latin typeface="Bell MT" panose="02020503060305020303" pitchFamily="18" charset="0"/>
              </a:rPr>
              <a:t>Final layers modified for binary classification (Haemorrhage / Normal).</a:t>
            </a:r>
          </a:p>
          <a:p>
            <a:r>
              <a:rPr lang="en-IN" sz="3200" b="1" dirty="0">
                <a:latin typeface="Bell MT" panose="02020503060305020303" pitchFamily="18" charset="0"/>
              </a:rPr>
              <a:t>4️⃣ Adam Optimizer</a:t>
            </a:r>
          </a:p>
          <a:p>
            <a:pPr>
              <a:buFont typeface="Arial" panose="020B0604020202020204" pitchFamily="34" charset="0"/>
              <a:buChar char="•"/>
            </a:pPr>
            <a:r>
              <a:rPr lang="en-IN" sz="3200" dirty="0">
                <a:latin typeface="Bell MT" panose="02020503060305020303" pitchFamily="18" charset="0"/>
              </a:rPr>
              <a:t>Updates model weights efficiently during training.</a:t>
            </a:r>
          </a:p>
          <a:p>
            <a:pPr>
              <a:buFont typeface="Arial" panose="020B0604020202020204" pitchFamily="34" charset="0"/>
              <a:buChar char="•"/>
            </a:pPr>
            <a:r>
              <a:rPr lang="en-IN" sz="3200" dirty="0">
                <a:latin typeface="Bell MT" panose="02020503060305020303" pitchFamily="18" charset="0"/>
              </a:rPr>
              <a:t>Helps in faster convergence.</a:t>
            </a:r>
          </a:p>
          <a:p>
            <a:r>
              <a:rPr lang="en-IN" sz="3200" b="1" dirty="0">
                <a:latin typeface="Bell MT" panose="02020503060305020303" pitchFamily="18" charset="0"/>
              </a:rPr>
              <a:t>5️⃣ Binary Cross-Entropy Loss</a:t>
            </a:r>
          </a:p>
          <a:p>
            <a:pPr>
              <a:buFont typeface="Arial" panose="020B0604020202020204" pitchFamily="34" charset="0"/>
              <a:buChar char="•"/>
            </a:pPr>
            <a:r>
              <a:rPr lang="en-IN" sz="3200" dirty="0">
                <a:latin typeface="Bell MT" panose="02020503060305020303" pitchFamily="18" charset="0"/>
              </a:rPr>
              <a:t>Measures the difference between predicted and actual labels.</a:t>
            </a:r>
          </a:p>
          <a:p>
            <a:pPr>
              <a:buFont typeface="Arial" panose="020B0604020202020204" pitchFamily="34" charset="0"/>
              <a:buChar char="•"/>
            </a:pPr>
            <a:r>
              <a:rPr lang="en-IN" sz="3200" dirty="0">
                <a:latin typeface="Bell MT" panose="02020503060305020303" pitchFamily="18" charset="0"/>
              </a:rPr>
              <a:t>Minimizes classification error during training.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200" b="0" i="0" u="none" strike="noStrike" cap="none" normalizeH="0" baseline="0" dirty="0">
              <a:ln>
                <a:noFill/>
              </a:ln>
              <a:solidFill>
                <a:schemeClr val="tx1"/>
              </a:solidFill>
              <a:effectLst/>
              <a:latin typeface="Bell MT" panose="02020503060305020303" pitchFamily="18" charset="0"/>
            </a:endParaRPr>
          </a:p>
        </p:txBody>
      </p:sp>
    </p:spTree>
    <p:extLst>
      <p:ext uri="{BB962C8B-B14F-4D97-AF65-F5344CB8AC3E}">
        <p14:creationId xmlns:p14="http://schemas.microsoft.com/office/powerpoint/2010/main" val="110849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77842228-D60B-4476-8F31-7E7411BF39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668000" cy="55245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The Inception module.">
            <a:extLst>
              <a:ext uri="{FF2B5EF4-FFF2-40B4-BE49-F238E27FC236}">
                <a16:creationId xmlns:a16="http://schemas.microsoft.com/office/drawing/2014/main" id="{C2B14F3C-3658-4C58-B75D-6EF7E1E4DD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1" y="5524500"/>
            <a:ext cx="10820400" cy="47625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F64C864-54B6-42CB-9B09-E8E3F77FBBE8}"/>
              </a:ext>
            </a:extLst>
          </p:cNvPr>
          <p:cNvSpPr txBox="1"/>
          <p:nvPr/>
        </p:nvSpPr>
        <p:spPr>
          <a:xfrm>
            <a:off x="11887200" y="2781300"/>
            <a:ext cx="4648200" cy="1446550"/>
          </a:xfrm>
          <a:prstGeom prst="rect">
            <a:avLst/>
          </a:prstGeom>
          <a:noFill/>
        </p:spPr>
        <p:txBody>
          <a:bodyPr wrap="square">
            <a:spAutoFit/>
          </a:bodyPr>
          <a:lstStyle/>
          <a:p>
            <a:r>
              <a:rPr lang="en-IN" sz="4400" dirty="0" err="1">
                <a:solidFill>
                  <a:srgbClr val="0B2545"/>
                </a:solidFill>
                <a:latin typeface="Algerian" panose="04020705040A02060702" pitchFamily="82" charset="0"/>
              </a:rPr>
              <a:t>Cnn</a:t>
            </a:r>
            <a:r>
              <a:rPr lang="en-IN" sz="4400" dirty="0">
                <a:solidFill>
                  <a:srgbClr val="0B2545"/>
                </a:solidFill>
                <a:latin typeface="Algerian" panose="04020705040A02060702" pitchFamily="82" charset="0"/>
              </a:rPr>
              <a:t> architecture</a:t>
            </a:r>
          </a:p>
        </p:txBody>
      </p:sp>
      <p:sp>
        <p:nvSpPr>
          <p:cNvPr id="10" name="TextBox 9">
            <a:extLst>
              <a:ext uri="{FF2B5EF4-FFF2-40B4-BE49-F238E27FC236}">
                <a16:creationId xmlns:a16="http://schemas.microsoft.com/office/drawing/2014/main" id="{3534A052-865E-4FAC-A475-3795547FD88A}"/>
              </a:ext>
            </a:extLst>
          </p:cNvPr>
          <p:cNvSpPr txBox="1"/>
          <p:nvPr/>
        </p:nvSpPr>
        <p:spPr>
          <a:xfrm>
            <a:off x="1371600" y="7539140"/>
            <a:ext cx="4648200" cy="1446550"/>
          </a:xfrm>
          <a:prstGeom prst="rect">
            <a:avLst/>
          </a:prstGeom>
          <a:noFill/>
        </p:spPr>
        <p:txBody>
          <a:bodyPr wrap="square">
            <a:spAutoFit/>
          </a:bodyPr>
          <a:lstStyle/>
          <a:p>
            <a:r>
              <a:rPr lang="en-IN" sz="4400" dirty="0">
                <a:solidFill>
                  <a:srgbClr val="0B2545"/>
                </a:solidFill>
                <a:latin typeface="Algerian" panose="04020705040A02060702" pitchFamily="82" charset="0"/>
              </a:rPr>
              <a:t>Inception v3 architecture</a:t>
            </a:r>
          </a:p>
        </p:txBody>
      </p:sp>
    </p:spTree>
    <p:extLst>
      <p:ext uri="{BB962C8B-B14F-4D97-AF65-F5344CB8AC3E}">
        <p14:creationId xmlns:p14="http://schemas.microsoft.com/office/powerpoint/2010/main" val="3791006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43277-2323-4DBE-A4E4-E35ECD901503}"/>
              </a:ext>
            </a:extLst>
          </p:cNvPr>
          <p:cNvSpPr>
            <a:spLocks noGrp="1"/>
          </p:cNvSpPr>
          <p:nvPr>
            <p:ph type="title"/>
          </p:nvPr>
        </p:nvSpPr>
        <p:spPr>
          <a:xfrm>
            <a:off x="457199" y="144009"/>
            <a:ext cx="17047029" cy="1143000"/>
          </a:xfrm>
        </p:spPr>
        <p:txBody>
          <a:bodyPr>
            <a:noAutofit/>
          </a:bodyPr>
          <a:lstStyle/>
          <a:p>
            <a:r>
              <a:rPr lang="en-IN" sz="8800" dirty="0">
                <a:latin typeface="Algerian" panose="04020705040A02060702" pitchFamily="82" charset="0"/>
              </a:rPr>
              <a:t>MODULES</a:t>
            </a:r>
          </a:p>
        </p:txBody>
      </p:sp>
      <p:sp>
        <p:nvSpPr>
          <p:cNvPr id="4" name="Rectangle 1">
            <a:extLst>
              <a:ext uri="{FF2B5EF4-FFF2-40B4-BE49-F238E27FC236}">
                <a16:creationId xmlns:a16="http://schemas.microsoft.com/office/drawing/2014/main" id="{AB44A833-C132-42BE-9F39-E8C3C94CCE29}"/>
              </a:ext>
            </a:extLst>
          </p:cNvPr>
          <p:cNvSpPr>
            <a:spLocks noGrp="1" noChangeArrowheads="1"/>
          </p:cNvSpPr>
          <p:nvPr>
            <p:ph idx="1"/>
          </p:nvPr>
        </p:nvSpPr>
        <p:spPr bwMode="auto">
          <a:xfrm>
            <a:off x="685800" y="-3314700"/>
            <a:ext cx="16078200" cy="13289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2" spcCol="1800000" anchor="ctr" anchorCtr="0" compatLnSpc="1">
            <a:prstTxWarp prst="textNoShape">
              <a:avLst/>
            </a:prstTxWarp>
            <a:spAutoFit/>
          </a:bodyPr>
          <a:lstStyle/>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pPr marL="0" indent="0">
              <a:buNone/>
            </a:pPr>
            <a:r>
              <a:rPr lang="en-IN" sz="3000" b="1" dirty="0">
                <a:latin typeface="Bell MT" panose="02020503060305020303" pitchFamily="18" charset="0"/>
              </a:rPr>
              <a:t>1️⃣ Data Acquisition Module</a:t>
            </a:r>
          </a:p>
          <a:p>
            <a:pPr>
              <a:buFont typeface="Arial" panose="020B0604020202020204" pitchFamily="34" charset="0"/>
              <a:buChar char="•"/>
            </a:pPr>
            <a:r>
              <a:rPr lang="en-IN" sz="3000" dirty="0">
                <a:latin typeface="Bell MT" panose="02020503060305020303" pitchFamily="18" charset="0"/>
              </a:rPr>
              <a:t>Collection of CT scan images dataset</a:t>
            </a:r>
          </a:p>
          <a:p>
            <a:pPr>
              <a:buFont typeface="Arial" panose="020B0604020202020204" pitchFamily="34" charset="0"/>
              <a:buChar char="•"/>
            </a:pPr>
            <a:r>
              <a:rPr lang="en-IN" sz="3000" dirty="0">
                <a:latin typeface="Bell MT" panose="02020503060305020303" pitchFamily="18" charset="0"/>
              </a:rPr>
              <a:t>Categorized into Haemorrhage and Normal classes</a:t>
            </a:r>
          </a:p>
          <a:p>
            <a:endParaRPr lang="en-IN" sz="3000" b="1" dirty="0">
              <a:latin typeface="Bell MT" panose="02020503060305020303" pitchFamily="18" charset="0"/>
            </a:endParaRPr>
          </a:p>
          <a:p>
            <a:pPr marL="0" indent="0">
              <a:buNone/>
            </a:pPr>
            <a:r>
              <a:rPr lang="en-IN" sz="3000" b="1" dirty="0">
                <a:latin typeface="Bell MT" panose="02020503060305020303" pitchFamily="18" charset="0"/>
              </a:rPr>
              <a:t>2️⃣ Pre-processing Module</a:t>
            </a:r>
          </a:p>
          <a:p>
            <a:pPr>
              <a:buFont typeface="Arial" panose="020B0604020202020204" pitchFamily="34" charset="0"/>
              <a:buChar char="•"/>
            </a:pPr>
            <a:r>
              <a:rPr lang="en-IN" sz="3000" dirty="0">
                <a:latin typeface="Bell MT" panose="02020503060305020303" pitchFamily="18" charset="0"/>
              </a:rPr>
              <a:t>Image resizing and normalization</a:t>
            </a:r>
          </a:p>
          <a:p>
            <a:pPr>
              <a:buFont typeface="Arial" panose="020B0604020202020204" pitchFamily="34" charset="0"/>
              <a:buChar char="•"/>
            </a:pPr>
            <a:r>
              <a:rPr lang="en-IN" sz="3000" dirty="0">
                <a:latin typeface="Bell MT" panose="02020503060305020303" pitchFamily="18" charset="0"/>
              </a:rPr>
              <a:t>Data augmentation (rotation, flipping, scaling)</a:t>
            </a:r>
          </a:p>
          <a:p>
            <a:pPr>
              <a:buFont typeface="Arial" panose="020B0604020202020204" pitchFamily="34" charset="0"/>
              <a:buChar char="•"/>
            </a:pPr>
            <a:r>
              <a:rPr lang="en-IN" sz="3000" dirty="0">
                <a:latin typeface="Bell MT" panose="02020503060305020303" pitchFamily="18" charset="0"/>
              </a:rPr>
              <a:t>Noise reduction and quality enhancement</a:t>
            </a:r>
          </a:p>
          <a:p>
            <a:pPr marL="0" indent="0">
              <a:buNone/>
            </a:pPr>
            <a:r>
              <a:rPr lang="en-IN" sz="3000" b="1" dirty="0">
                <a:latin typeface="Bell MT" panose="02020503060305020303" pitchFamily="18" charset="0"/>
              </a:rPr>
              <a:t>3️⃣ Model Training Module</a:t>
            </a:r>
          </a:p>
          <a:p>
            <a:pPr>
              <a:buFont typeface="Arial" panose="020B0604020202020204" pitchFamily="34" charset="0"/>
              <a:buChar char="•"/>
            </a:pPr>
            <a:r>
              <a:rPr lang="en-IN" sz="3000" dirty="0">
                <a:latin typeface="Bell MT" panose="02020503060305020303" pitchFamily="18" charset="0"/>
              </a:rPr>
              <a:t>Implementation of InceptionV3 using Transfer Learning</a:t>
            </a:r>
          </a:p>
          <a:p>
            <a:pPr>
              <a:buFont typeface="Arial" panose="020B0604020202020204" pitchFamily="34" charset="0"/>
              <a:buChar char="•"/>
            </a:pPr>
            <a:r>
              <a:rPr lang="en-IN" sz="3000" dirty="0">
                <a:latin typeface="Bell MT" panose="02020503060305020303" pitchFamily="18" charset="0"/>
              </a:rPr>
              <a:t>Fine-tuning of final classification layers</a:t>
            </a:r>
          </a:p>
          <a:p>
            <a:pPr>
              <a:buFont typeface="Arial" panose="020B0604020202020204" pitchFamily="34" charset="0"/>
              <a:buChar char="•"/>
            </a:pPr>
            <a:r>
              <a:rPr lang="en-IN" sz="3000" dirty="0">
                <a:latin typeface="Bell MT" panose="02020503060305020303" pitchFamily="18" charset="0"/>
              </a:rPr>
              <a:t>Training using Adam optimizer and Binary Cross-Entropy</a:t>
            </a: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endParaRPr lang="en-IN" sz="3000" b="1" dirty="0">
              <a:latin typeface="Bell MT" panose="02020503060305020303" pitchFamily="18" charset="0"/>
            </a:endParaRPr>
          </a:p>
          <a:p>
            <a:pPr marL="0" indent="0">
              <a:buNone/>
            </a:pPr>
            <a:endParaRPr lang="en-IN" sz="3000" b="1" dirty="0">
              <a:latin typeface="Bell MT" panose="02020503060305020303" pitchFamily="18" charset="0"/>
            </a:endParaRPr>
          </a:p>
          <a:p>
            <a:endParaRPr lang="en-IN" sz="3000" b="1" dirty="0">
              <a:latin typeface="Bell MT" panose="02020503060305020303" pitchFamily="18" charset="0"/>
            </a:endParaRPr>
          </a:p>
          <a:p>
            <a:pPr marL="0" indent="0">
              <a:buNone/>
            </a:pPr>
            <a:r>
              <a:rPr lang="en-IN" sz="3000" b="1" dirty="0">
                <a:latin typeface="Bell MT" panose="02020503060305020303" pitchFamily="18" charset="0"/>
              </a:rPr>
              <a:t>4️⃣ Evaluation Module</a:t>
            </a:r>
          </a:p>
          <a:p>
            <a:pPr>
              <a:buFont typeface="Arial" panose="020B0604020202020204" pitchFamily="34" charset="0"/>
              <a:buChar char="•"/>
            </a:pPr>
            <a:r>
              <a:rPr lang="en-IN" sz="3000" dirty="0">
                <a:latin typeface="Bell MT" panose="02020503060305020303" pitchFamily="18" charset="0"/>
              </a:rPr>
              <a:t>Performance measurement using Accuracy</a:t>
            </a:r>
          </a:p>
          <a:p>
            <a:pPr>
              <a:buFont typeface="Arial" panose="020B0604020202020204" pitchFamily="34" charset="0"/>
              <a:buChar char="•"/>
            </a:pPr>
            <a:r>
              <a:rPr lang="en-IN" sz="3000" dirty="0">
                <a:latin typeface="Bell MT" panose="02020503060305020303" pitchFamily="18" charset="0"/>
              </a:rPr>
              <a:t>Confusion Matrix generation</a:t>
            </a:r>
          </a:p>
          <a:p>
            <a:pPr>
              <a:buFont typeface="Arial" panose="020B0604020202020204" pitchFamily="34" charset="0"/>
              <a:buChar char="•"/>
            </a:pPr>
            <a:r>
              <a:rPr lang="en-IN" sz="3000" dirty="0">
                <a:latin typeface="Bell MT" panose="02020503060305020303" pitchFamily="18" charset="0"/>
              </a:rPr>
              <a:t>Sensitivity and Specificity calculation</a:t>
            </a:r>
          </a:p>
          <a:p>
            <a:pPr>
              <a:buFont typeface="Arial" panose="020B0604020202020204" pitchFamily="34" charset="0"/>
              <a:buChar char="•"/>
            </a:pPr>
            <a:r>
              <a:rPr lang="en-IN" sz="3000" dirty="0">
                <a:latin typeface="Bell MT" panose="02020503060305020303" pitchFamily="18" charset="0"/>
              </a:rPr>
              <a:t>ROC Curve analysis</a:t>
            </a:r>
          </a:p>
          <a:p>
            <a:pPr marL="0" indent="0">
              <a:buNone/>
            </a:pPr>
            <a:r>
              <a:rPr lang="en-IN" sz="3000" b="1" dirty="0">
                <a:latin typeface="Bell MT" panose="02020503060305020303" pitchFamily="18" charset="0"/>
              </a:rPr>
              <a:t>5️⃣ Deployment Module</a:t>
            </a:r>
          </a:p>
          <a:p>
            <a:pPr>
              <a:buFont typeface="Arial" panose="020B0604020202020204" pitchFamily="34" charset="0"/>
              <a:buChar char="•"/>
            </a:pPr>
            <a:r>
              <a:rPr lang="en-IN" sz="3000" dirty="0">
                <a:latin typeface="Bell MT" panose="02020503060305020303" pitchFamily="18" charset="0"/>
              </a:rPr>
              <a:t>Model integration with Flask framework</a:t>
            </a:r>
          </a:p>
          <a:p>
            <a:pPr>
              <a:buFont typeface="Arial" panose="020B0604020202020204" pitchFamily="34" charset="0"/>
              <a:buChar char="•"/>
            </a:pPr>
            <a:r>
              <a:rPr lang="en-IN" sz="3000" dirty="0">
                <a:latin typeface="Bell MT" panose="02020503060305020303" pitchFamily="18" charset="0"/>
              </a:rPr>
              <a:t>Web interface for image upload</a:t>
            </a:r>
          </a:p>
          <a:p>
            <a:pPr>
              <a:buFont typeface="Arial" panose="020B0604020202020204" pitchFamily="34" charset="0"/>
              <a:buChar char="•"/>
            </a:pPr>
            <a:r>
              <a:rPr lang="en-IN" sz="3000" dirty="0">
                <a:latin typeface="Bell MT" panose="02020503060305020303" pitchFamily="18" charset="0"/>
              </a:rPr>
              <a:t>Real-time prediction output display</a:t>
            </a:r>
          </a:p>
        </p:txBody>
      </p:sp>
    </p:spTree>
    <p:extLst>
      <p:ext uri="{BB962C8B-B14F-4D97-AF65-F5344CB8AC3E}">
        <p14:creationId xmlns:p14="http://schemas.microsoft.com/office/powerpoint/2010/main" val="3920046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B8E80-E3B9-4E7E-90AF-03BB201DBF9A}"/>
              </a:ext>
            </a:extLst>
          </p:cNvPr>
          <p:cNvSpPr>
            <a:spLocks noGrp="1"/>
          </p:cNvSpPr>
          <p:nvPr>
            <p:ph type="title"/>
          </p:nvPr>
        </p:nvSpPr>
        <p:spPr>
          <a:xfrm>
            <a:off x="0" y="274638"/>
            <a:ext cx="18288000" cy="1143000"/>
          </a:xfrm>
        </p:spPr>
        <p:txBody>
          <a:bodyPr>
            <a:noAutofit/>
          </a:bodyPr>
          <a:lstStyle/>
          <a:p>
            <a:r>
              <a:rPr lang="en-IN" sz="8800" dirty="0">
                <a:latin typeface="Algerian" panose="04020705040A02060702" pitchFamily="82" charset="0"/>
              </a:rPr>
              <a:t>SYSTEM ARCHITECTURE</a:t>
            </a:r>
          </a:p>
        </p:txBody>
      </p:sp>
      <p:sp>
        <p:nvSpPr>
          <p:cNvPr id="34" name="Rectangle 33">
            <a:extLst>
              <a:ext uri="{FF2B5EF4-FFF2-40B4-BE49-F238E27FC236}">
                <a16:creationId xmlns:a16="http://schemas.microsoft.com/office/drawing/2014/main" id="{9E9D2123-CBB9-49D9-B0B5-D9880316E193}"/>
              </a:ext>
            </a:extLst>
          </p:cNvPr>
          <p:cNvSpPr/>
          <p:nvPr/>
        </p:nvSpPr>
        <p:spPr>
          <a:xfrm>
            <a:off x="3048000" y="1079500"/>
            <a:ext cx="12192000" cy="8128000"/>
          </a:xfrm>
          <a:prstGeom prst="rect">
            <a:avLst/>
          </a:prstGeom>
        </p:spPr>
        <p:txBody>
          <a:bodyPr/>
          <a:lstStyle/>
          <a:p>
            <a:pPr lvl="0">
              <a:buChar char="•"/>
            </a:pPr>
            <a:endParaRPr lang="en-IN" dirty="0"/>
          </a:p>
        </p:txBody>
      </p:sp>
      <p:pic>
        <p:nvPicPr>
          <p:cNvPr id="42" name="Picture 41">
            <a:extLst>
              <a:ext uri="{FF2B5EF4-FFF2-40B4-BE49-F238E27FC236}">
                <a16:creationId xmlns:a16="http://schemas.microsoft.com/office/drawing/2014/main" id="{25BF7568-7282-4421-9D6E-F1B4D4289EBD}"/>
              </a:ext>
            </a:extLst>
          </p:cNvPr>
          <p:cNvPicPr>
            <a:picLocks noChangeAspect="1"/>
          </p:cNvPicPr>
          <p:nvPr/>
        </p:nvPicPr>
        <p:blipFill rotWithShape="1">
          <a:blip r:embed="rId2">
            <a:extLst>
              <a:ext uri="{28A0092B-C50C-407E-A947-70E740481C1C}">
                <a14:useLocalDpi xmlns:a14="http://schemas.microsoft.com/office/drawing/2010/main" val="0"/>
              </a:ext>
            </a:extLst>
          </a:blip>
          <a:srcRect l="1" t="48372" r="-1352" b="27300"/>
          <a:stretch/>
        </p:blipFill>
        <p:spPr>
          <a:xfrm>
            <a:off x="0" y="2950368"/>
            <a:ext cx="18516600" cy="4250531"/>
          </a:xfrm>
          <a:prstGeom prst="rect">
            <a:avLst/>
          </a:prstGeom>
        </p:spPr>
      </p:pic>
    </p:spTree>
    <p:extLst>
      <p:ext uri="{BB962C8B-B14F-4D97-AF65-F5344CB8AC3E}">
        <p14:creationId xmlns:p14="http://schemas.microsoft.com/office/powerpoint/2010/main" val="644704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99F03E-F10C-45E9-BA75-3F222E7210BD}"/>
              </a:ext>
            </a:extLst>
          </p:cNvPr>
          <p:cNvSpPr txBox="1"/>
          <p:nvPr/>
        </p:nvSpPr>
        <p:spPr>
          <a:xfrm>
            <a:off x="0" y="138316"/>
            <a:ext cx="7086600" cy="784830"/>
          </a:xfrm>
          <a:prstGeom prst="rect">
            <a:avLst/>
          </a:prstGeom>
          <a:noFill/>
        </p:spPr>
        <p:txBody>
          <a:bodyPr wrap="square" rtlCol="0">
            <a:spAutoFit/>
          </a:bodyPr>
          <a:lstStyle/>
          <a:p>
            <a:r>
              <a:rPr lang="en-IN" sz="4500" dirty="0">
                <a:solidFill>
                  <a:srgbClr val="1A237E"/>
                </a:solidFill>
                <a:latin typeface="Algerian" panose="04020705040A02060702" pitchFamily="82" charset="0"/>
              </a:rPr>
              <a:t>requirements</a:t>
            </a:r>
          </a:p>
        </p:txBody>
      </p:sp>
      <p:sp>
        <p:nvSpPr>
          <p:cNvPr id="4" name="TextBox 3">
            <a:extLst>
              <a:ext uri="{FF2B5EF4-FFF2-40B4-BE49-F238E27FC236}">
                <a16:creationId xmlns:a16="http://schemas.microsoft.com/office/drawing/2014/main" id="{C8B087EC-824E-416C-BCB5-FD79F7F1E5C4}"/>
              </a:ext>
            </a:extLst>
          </p:cNvPr>
          <p:cNvSpPr txBox="1"/>
          <p:nvPr/>
        </p:nvSpPr>
        <p:spPr>
          <a:xfrm>
            <a:off x="152400" y="874160"/>
            <a:ext cx="7772400" cy="8956298"/>
          </a:xfrm>
          <a:prstGeom prst="rect">
            <a:avLst/>
          </a:prstGeom>
          <a:noFill/>
        </p:spPr>
        <p:txBody>
          <a:bodyPr wrap="square" rtlCol="0">
            <a:spAutoFit/>
          </a:bodyPr>
          <a:lstStyle/>
          <a:p>
            <a:pPr algn="just"/>
            <a:r>
              <a:rPr lang="en-IN" sz="3600" b="1" dirty="0">
                <a:latin typeface="Bell MT" panose="02020503060305020303" pitchFamily="18" charset="0"/>
              </a:rPr>
              <a:t>🔹Programming Language</a:t>
            </a:r>
          </a:p>
          <a:p>
            <a:pPr algn="just">
              <a:buFont typeface="Arial" panose="020B0604020202020204" pitchFamily="34" charset="0"/>
              <a:buChar char="•"/>
            </a:pPr>
            <a:r>
              <a:rPr lang="en-IN" sz="3600" dirty="0">
                <a:latin typeface="Bell MT" panose="02020503060305020303" pitchFamily="18" charset="0"/>
              </a:rPr>
              <a:t>Python 3.8</a:t>
            </a:r>
          </a:p>
          <a:p>
            <a:pPr algn="just"/>
            <a:r>
              <a:rPr lang="en-IN" sz="3600" b="1" dirty="0">
                <a:latin typeface="Bell MT" panose="02020503060305020303" pitchFamily="18" charset="0"/>
              </a:rPr>
              <a:t>🔹 Libraries &amp; Frameworks</a:t>
            </a:r>
          </a:p>
          <a:p>
            <a:pPr algn="just">
              <a:buFont typeface="Arial" panose="020B0604020202020204" pitchFamily="34" charset="0"/>
              <a:buChar char="•"/>
            </a:pPr>
            <a:r>
              <a:rPr lang="en-IN" sz="3600" dirty="0">
                <a:latin typeface="Bell MT" panose="02020503060305020303" pitchFamily="18" charset="0"/>
              </a:rPr>
              <a:t>TensorFlow</a:t>
            </a:r>
          </a:p>
          <a:p>
            <a:pPr algn="just">
              <a:buFont typeface="Arial" panose="020B0604020202020204" pitchFamily="34" charset="0"/>
              <a:buChar char="•"/>
            </a:pPr>
            <a:r>
              <a:rPr lang="en-IN" sz="3600" dirty="0" err="1">
                <a:latin typeface="Bell MT" panose="02020503060305020303" pitchFamily="18" charset="0"/>
              </a:rPr>
              <a:t>Keras</a:t>
            </a:r>
            <a:endParaRPr lang="en-IN" sz="3600" dirty="0">
              <a:latin typeface="Bell MT" panose="02020503060305020303" pitchFamily="18" charset="0"/>
            </a:endParaRPr>
          </a:p>
          <a:p>
            <a:pPr algn="just">
              <a:buFont typeface="Arial" panose="020B0604020202020204" pitchFamily="34" charset="0"/>
              <a:buChar char="•"/>
            </a:pPr>
            <a:r>
              <a:rPr lang="en-IN" sz="3600" dirty="0">
                <a:latin typeface="Bell MT" panose="02020503060305020303" pitchFamily="18" charset="0"/>
              </a:rPr>
              <a:t>NumPy</a:t>
            </a:r>
          </a:p>
          <a:p>
            <a:pPr algn="just">
              <a:buFont typeface="Arial" panose="020B0604020202020204" pitchFamily="34" charset="0"/>
              <a:buChar char="•"/>
            </a:pPr>
            <a:r>
              <a:rPr lang="en-IN" sz="3600" dirty="0">
                <a:latin typeface="Bell MT" panose="02020503060305020303" pitchFamily="18" charset="0"/>
              </a:rPr>
              <a:t>Pandas</a:t>
            </a:r>
          </a:p>
          <a:p>
            <a:pPr algn="just">
              <a:buFont typeface="Arial" panose="020B0604020202020204" pitchFamily="34" charset="0"/>
              <a:buChar char="•"/>
            </a:pPr>
            <a:r>
              <a:rPr lang="en-IN" sz="3600" dirty="0">
                <a:latin typeface="Bell MT" panose="02020503060305020303" pitchFamily="18" charset="0"/>
              </a:rPr>
              <a:t>Matplotlib</a:t>
            </a:r>
          </a:p>
          <a:p>
            <a:pPr algn="just">
              <a:buFont typeface="Arial" panose="020B0604020202020204" pitchFamily="34" charset="0"/>
              <a:buChar char="•"/>
            </a:pPr>
            <a:r>
              <a:rPr lang="en-IN" sz="3600" dirty="0">
                <a:latin typeface="Bell MT" panose="02020503060305020303" pitchFamily="18" charset="0"/>
              </a:rPr>
              <a:t>Scikit-learn</a:t>
            </a:r>
          </a:p>
          <a:p>
            <a:pPr algn="just"/>
            <a:r>
              <a:rPr lang="en-IN" sz="3600" b="1" dirty="0">
                <a:latin typeface="Bell MT" panose="02020503060305020303" pitchFamily="18" charset="0"/>
              </a:rPr>
              <a:t>🔹 Web Framework</a:t>
            </a:r>
          </a:p>
          <a:p>
            <a:pPr algn="just">
              <a:buFont typeface="Arial" panose="020B0604020202020204" pitchFamily="34" charset="0"/>
              <a:buChar char="•"/>
            </a:pPr>
            <a:r>
              <a:rPr lang="en-IN" sz="3600" dirty="0">
                <a:latin typeface="Bell MT" panose="02020503060305020303" pitchFamily="18" charset="0"/>
              </a:rPr>
              <a:t>Flask</a:t>
            </a:r>
          </a:p>
          <a:p>
            <a:pPr algn="just"/>
            <a:r>
              <a:rPr lang="en-IN" sz="3600" b="1" dirty="0">
                <a:latin typeface="Bell MT" panose="02020503060305020303" pitchFamily="18" charset="0"/>
              </a:rPr>
              <a:t>🔹 Development Environment</a:t>
            </a:r>
          </a:p>
          <a:p>
            <a:pPr algn="just">
              <a:buFont typeface="Arial" panose="020B0604020202020204" pitchFamily="34" charset="0"/>
              <a:buChar char="•"/>
            </a:pPr>
            <a:r>
              <a:rPr lang="en-IN" sz="3600" dirty="0">
                <a:latin typeface="Bell MT" panose="02020503060305020303" pitchFamily="18" charset="0"/>
              </a:rPr>
              <a:t>PyCharm IDE / VS Code</a:t>
            </a:r>
          </a:p>
          <a:p>
            <a:pPr algn="just">
              <a:buFont typeface="Arial" panose="020B0604020202020204" pitchFamily="34" charset="0"/>
              <a:buChar char="•"/>
            </a:pPr>
            <a:r>
              <a:rPr lang="en-IN" sz="3600" dirty="0">
                <a:latin typeface="Bell MT" panose="02020503060305020303" pitchFamily="18" charset="0"/>
              </a:rPr>
              <a:t>Jupyter Notebook</a:t>
            </a:r>
          </a:p>
          <a:p>
            <a:pPr algn="just"/>
            <a:r>
              <a:rPr lang="en-IN" sz="3600" b="1" dirty="0">
                <a:latin typeface="Bell MT" panose="02020503060305020303" pitchFamily="18" charset="0"/>
              </a:rPr>
              <a:t>🔹 Operating System</a:t>
            </a:r>
          </a:p>
          <a:p>
            <a:pPr algn="just">
              <a:buFont typeface="Arial" panose="020B0604020202020204" pitchFamily="34" charset="0"/>
              <a:buChar char="•"/>
            </a:pPr>
            <a:r>
              <a:rPr lang="en-IN" sz="3600" dirty="0">
                <a:latin typeface="Bell MT" panose="02020503060305020303" pitchFamily="18" charset="0"/>
              </a:rPr>
              <a:t>Windows 10 / Windows 11</a:t>
            </a:r>
          </a:p>
        </p:txBody>
      </p:sp>
      <p:pic>
        <p:nvPicPr>
          <p:cNvPr id="8" name="Picture 7">
            <a:extLst>
              <a:ext uri="{FF2B5EF4-FFF2-40B4-BE49-F238E27FC236}">
                <a16:creationId xmlns:a16="http://schemas.microsoft.com/office/drawing/2014/main" id="{8D09271A-F9D9-4E1A-8A05-D4CBA12D30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71710" y="-316235"/>
            <a:ext cx="1616290" cy="1880774"/>
          </a:xfrm>
          <a:prstGeom prst="rect">
            <a:avLst/>
          </a:prstGeom>
        </p:spPr>
      </p:pic>
      <p:pic>
        <p:nvPicPr>
          <p:cNvPr id="5" name="Picture 4">
            <a:extLst>
              <a:ext uri="{FF2B5EF4-FFF2-40B4-BE49-F238E27FC236}">
                <a16:creationId xmlns:a16="http://schemas.microsoft.com/office/drawing/2014/main" id="{C9BB176E-B37D-4355-9D91-7CCEF2F75174}"/>
              </a:ext>
            </a:extLst>
          </p:cNvPr>
          <p:cNvPicPr>
            <a:picLocks noChangeAspect="1"/>
          </p:cNvPicPr>
          <p:nvPr/>
        </p:nvPicPr>
        <p:blipFill rotWithShape="1">
          <a:blip r:embed="rId3"/>
          <a:srcRect l="13194" t="3704" r="18849" b="3704"/>
          <a:stretch/>
        </p:blipFill>
        <p:spPr>
          <a:xfrm>
            <a:off x="8305800" y="1104900"/>
            <a:ext cx="7456714" cy="7620000"/>
          </a:xfrm>
          <a:prstGeom prst="rect">
            <a:avLst/>
          </a:prstGeom>
        </p:spPr>
      </p:pic>
    </p:spTree>
    <p:extLst>
      <p:ext uri="{BB962C8B-B14F-4D97-AF65-F5344CB8AC3E}">
        <p14:creationId xmlns:p14="http://schemas.microsoft.com/office/powerpoint/2010/main" val="2665292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8E067A1-7095-40F4-B0FF-D1C09D87E475}"/>
              </a:ext>
            </a:extLst>
          </p:cNvPr>
          <p:cNvPicPr>
            <a:picLocks noChangeAspect="1"/>
          </p:cNvPicPr>
          <p:nvPr/>
        </p:nvPicPr>
        <p:blipFill>
          <a:blip r:embed="rId2"/>
          <a:stretch>
            <a:fillRect/>
          </a:stretch>
        </p:blipFill>
        <p:spPr>
          <a:xfrm>
            <a:off x="152400" y="1216658"/>
            <a:ext cx="9896942" cy="4706007"/>
          </a:xfrm>
          <a:prstGeom prst="rect">
            <a:avLst/>
          </a:prstGeom>
        </p:spPr>
      </p:pic>
      <p:pic>
        <p:nvPicPr>
          <p:cNvPr id="9" name="Picture 8">
            <a:extLst>
              <a:ext uri="{FF2B5EF4-FFF2-40B4-BE49-F238E27FC236}">
                <a16:creationId xmlns:a16="http://schemas.microsoft.com/office/drawing/2014/main" id="{00321E97-9A26-4BD3-A7B2-9CD24255C605}"/>
              </a:ext>
            </a:extLst>
          </p:cNvPr>
          <p:cNvPicPr>
            <a:picLocks noChangeAspect="1"/>
          </p:cNvPicPr>
          <p:nvPr/>
        </p:nvPicPr>
        <p:blipFill>
          <a:blip r:embed="rId3"/>
          <a:stretch>
            <a:fillRect/>
          </a:stretch>
        </p:blipFill>
        <p:spPr>
          <a:xfrm>
            <a:off x="8533397" y="4914901"/>
            <a:ext cx="9754603" cy="5372100"/>
          </a:xfrm>
          <a:prstGeom prst="rect">
            <a:avLst/>
          </a:prstGeom>
        </p:spPr>
      </p:pic>
      <p:sp>
        <p:nvSpPr>
          <p:cNvPr id="10" name="TextBox 9">
            <a:extLst>
              <a:ext uri="{FF2B5EF4-FFF2-40B4-BE49-F238E27FC236}">
                <a16:creationId xmlns:a16="http://schemas.microsoft.com/office/drawing/2014/main" id="{6C1E5672-9860-4925-89AC-925DD69FF2D6}"/>
              </a:ext>
            </a:extLst>
          </p:cNvPr>
          <p:cNvSpPr txBox="1"/>
          <p:nvPr/>
        </p:nvSpPr>
        <p:spPr>
          <a:xfrm flipH="1">
            <a:off x="0" y="0"/>
            <a:ext cx="5364481" cy="1200329"/>
          </a:xfrm>
          <a:prstGeom prst="rect">
            <a:avLst/>
          </a:prstGeom>
          <a:noFill/>
        </p:spPr>
        <p:txBody>
          <a:bodyPr wrap="square" rtlCol="0">
            <a:spAutoFit/>
          </a:bodyPr>
          <a:lstStyle/>
          <a:p>
            <a:r>
              <a:rPr lang="en-IN" sz="7200" dirty="0">
                <a:latin typeface="Algerian" panose="04020705040A02060702" pitchFamily="82" charset="0"/>
              </a:rPr>
              <a:t>RESULTS</a:t>
            </a:r>
          </a:p>
        </p:txBody>
      </p:sp>
    </p:spTree>
    <p:extLst>
      <p:ext uri="{BB962C8B-B14F-4D97-AF65-F5344CB8AC3E}">
        <p14:creationId xmlns:p14="http://schemas.microsoft.com/office/powerpoint/2010/main" val="3742310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A83C04-C807-42F5-969F-D35F472A5454}"/>
              </a:ext>
            </a:extLst>
          </p:cNvPr>
          <p:cNvPicPr>
            <a:picLocks noChangeAspect="1"/>
          </p:cNvPicPr>
          <p:nvPr/>
        </p:nvPicPr>
        <p:blipFill>
          <a:blip r:embed="rId2"/>
          <a:stretch>
            <a:fillRect/>
          </a:stretch>
        </p:blipFill>
        <p:spPr>
          <a:xfrm>
            <a:off x="0" y="-16330"/>
            <a:ext cx="9147992" cy="5007429"/>
          </a:xfrm>
          <a:prstGeom prst="rect">
            <a:avLst/>
          </a:prstGeom>
        </p:spPr>
      </p:pic>
      <p:pic>
        <p:nvPicPr>
          <p:cNvPr id="5" name="Picture 4">
            <a:extLst>
              <a:ext uri="{FF2B5EF4-FFF2-40B4-BE49-F238E27FC236}">
                <a16:creationId xmlns:a16="http://schemas.microsoft.com/office/drawing/2014/main" id="{3D65D521-1BBB-4C09-B5E7-DA522D858592}"/>
              </a:ext>
            </a:extLst>
          </p:cNvPr>
          <p:cNvPicPr>
            <a:picLocks noChangeAspect="1"/>
          </p:cNvPicPr>
          <p:nvPr/>
        </p:nvPicPr>
        <p:blipFill>
          <a:blip r:embed="rId3"/>
          <a:stretch>
            <a:fillRect/>
          </a:stretch>
        </p:blipFill>
        <p:spPr>
          <a:xfrm>
            <a:off x="9060015" y="4991099"/>
            <a:ext cx="9227985" cy="5534745"/>
          </a:xfrm>
          <a:prstGeom prst="rect">
            <a:avLst/>
          </a:prstGeom>
        </p:spPr>
      </p:pic>
    </p:spTree>
    <p:extLst>
      <p:ext uri="{BB962C8B-B14F-4D97-AF65-F5344CB8AC3E}">
        <p14:creationId xmlns:p14="http://schemas.microsoft.com/office/powerpoint/2010/main" val="2434001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AA0920-7D81-48A9-AA55-FB22DE0EFA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28" y="5970959"/>
            <a:ext cx="9153728" cy="4295775"/>
          </a:xfrm>
          <a:prstGeom prst="rect">
            <a:avLst/>
          </a:prstGeom>
        </p:spPr>
      </p:pic>
      <p:pic>
        <p:nvPicPr>
          <p:cNvPr id="7" name="Picture 6">
            <a:extLst>
              <a:ext uri="{FF2B5EF4-FFF2-40B4-BE49-F238E27FC236}">
                <a16:creationId xmlns:a16="http://schemas.microsoft.com/office/drawing/2014/main" id="{3737AE50-5412-42EE-9B3A-A5E57069D1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0" y="2628900"/>
            <a:ext cx="9155349" cy="4438650"/>
          </a:xfrm>
          <a:prstGeom prst="rect">
            <a:avLst/>
          </a:prstGeom>
        </p:spPr>
      </p:pic>
      <p:pic>
        <p:nvPicPr>
          <p:cNvPr id="9" name="Picture 8">
            <a:extLst>
              <a:ext uri="{FF2B5EF4-FFF2-40B4-BE49-F238E27FC236}">
                <a16:creationId xmlns:a16="http://schemas.microsoft.com/office/drawing/2014/main" id="{77496B8A-13F4-47B1-BB17-A3407428F8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28" y="-167802"/>
            <a:ext cx="9153728" cy="4162425"/>
          </a:xfrm>
          <a:prstGeom prst="rect">
            <a:avLst/>
          </a:prstGeom>
        </p:spPr>
      </p:pic>
    </p:spTree>
    <p:extLst>
      <p:ext uri="{BB962C8B-B14F-4D97-AF65-F5344CB8AC3E}">
        <p14:creationId xmlns:p14="http://schemas.microsoft.com/office/powerpoint/2010/main" val="1232395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912F1C-4227-46F8-BEBB-BBF6EB0B236C}"/>
              </a:ext>
            </a:extLst>
          </p:cNvPr>
          <p:cNvPicPr>
            <a:picLocks noChangeAspect="1"/>
          </p:cNvPicPr>
          <p:nvPr/>
        </p:nvPicPr>
        <p:blipFill>
          <a:blip r:embed="rId2"/>
          <a:stretch>
            <a:fillRect/>
          </a:stretch>
        </p:blipFill>
        <p:spPr>
          <a:xfrm>
            <a:off x="0" y="10886"/>
            <a:ext cx="12775980" cy="4639322"/>
          </a:xfrm>
          <a:prstGeom prst="rect">
            <a:avLst/>
          </a:prstGeom>
        </p:spPr>
      </p:pic>
      <p:pic>
        <p:nvPicPr>
          <p:cNvPr id="7" name="Picture 6">
            <a:extLst>
              <a:ext uri="{FF2B5EF4-FFF2-40B4-BE49-F238E27FC236}">
                <a16:creationId xmlns:a16="http://schemas.microsoft.com/office/drawing/2014/main" id="{1E127623-CA67-48D4-8C0B-C0F226A59B73}"/>
              </a:ext>
            </a:extLst>
          </p:cNvPr>
          <p:cNvPicPr>
            <a:picLocks noChangeAspect="1"/>
          </p:cNvPicPr>
          <p:nvPr/>
        </p:nvPicPr>
        <p:blipFill>
          <a:blip r:embed="rId3"/>
          <a:stretch>
            <a:fillRect/>
          </a:stretch>
        </p:blipFill>
        <p:spPr>
          <a:xfrm>
            <a:off x="5029200" y="5669449"/>
            <a:ext cx="13226143" cy="4639322"/>
          </a:xfrm>
          <a:prstGeom prst="rect">
            <a:avLst/>
          </a:prstGeom>
        </p:spPr>
      </p:pic>
    </p:spTree>
    <p:extLst>
      <p:ext uri="{BB962C8B-B14F-4D97-AF65-F5344CB8AC3E}">
        <p14:creationId xmlns:p14="http://schemas.microsoft.com/office/powerpoint/2010/main" val="139010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4"/>
          <p:cNvSpPr txBox="1"/>
          <p:nvPr/>
        </p:nvSpPr>
        <p:spPr>
          <a:xfrm>
            <a:off x="7850237" y="9182100"/>
            <a:ext cx="2587526" cy="280846"/>
          </a:xfrm>
          <a:prstGeom prst="rect">
            <a:avLst/>
          </a:prstGeom>
        </p:spPr>
        <p:txBody>
          <a:bodyPr lIns="0" tIns="0" rIns="0" bIns="0" rtlCol="0" anchor="t">
            <a:spAutoFit/>
          </a:bodyPr>
          <a:lstStyle/>
          <a:p>
            <a:pPr algn="ctr">
              <a:lnSpc>
                <a:spcPts val="2520"/>
              </a:lnSpc>
              <a:spcBef>
                <a:spcPct val="0"/>
              </a:spcBef>
            </a:pPr>
            <a:r>
              <a:rPr lang="en-US" sz="1800" dirty="0">
                <a:solidFill>
                  <a:srgbClr val="FFFFFF"/>
                </a:solidFill>
                <a:latin typeface="Futura"/>
                <a:ea typeface="Futura"/>
                <a:cs typeface="Futura"/>
                <a:sym typeface="Futura"/>
              </a:rPr>
              <a:t>a</a:t>
            </a:r>
          </a:p>
        </p:txBody>
      </p:sp>
      <p:sp>
        <p:nvSpPr>
          <p:cNvPr id="3" name="TextBox 2">
            <a:extLst>
              <a:ext uri="{FF2B5EF4-FFF2-40B4-BE49-F238E27FC236}">
                <a16:creationId xmlns:a16="http://schemas.microsoft.com/office/drawing/2014/main" id="{F8F05FC0-48F8-49D4-BE2A-375203DECEDA}"/>
              </a:ext>
            </a:extLst>
          </p:cNvPr>
          <p:cNvSpPr txBox="1"/>
          <p:nvPr/>
        </p:nvSpPr>
        <p:spPr>
          <a:xfrm>
            <a:off x="609600" y="364672"/>
            <a:ext cx="15697200" cy="2215991"/>
          </a:xfrm>
          <a:prstGeom prst="rect">
            <a:avLst/>
          </a:prstGeom>
          <a:noFill/>
        </p:spPr>
        <p:txBody>
          <a:bodyPr wrap="square" rtlCol="0">
            <a:spAutoFit/>
          </a:bodyPr>
          <a:lstStyle/>
          <a:p>
            <a:r>
              <a:rPr lang="en-IN" sz="8000" dirty="0">
                <a:solidFill>
                  <a:srgbClr val="1A237E"/>
                </a:solidFill>
                <a:latin typeface="Algerian" panose="04020705040A02060702" pitchFamily="82" charset="0"/>
              </a:rPr>
              <a:t>Future scope</a:t>
            </a:r>
          </a:p>
          <a:p>
            <a:endParaRPr lang="en-IN" sz="2900" dirty="0">
              <a:solidFill>
                <a:schemeClr val="bg1"/>
              </a:solidFill>
            </a:endParaRPr>
          </a:p>
          <a:p>
            <a:endParaRPr lang="en-IN" sz="2900" dirty="0">
              <a:solidFill>
                <a:schemeClr val="bg1"/>
              </a:solidFill>
              <a:latin typeface="Bell MT" panose="02020503060305020303" pitchFamily="18" charset="0"/>
            </a:endParaRPr>
          </a:p>
        </p:txBody>
      </p:sp>
      <p:sp>
        <p:nvSpPr>
          <p:cNvPr id="12" name="Rectangle 4">
            <a:extLst>
              <a:ext uri="{FF2B5EF4-FFF2-40B4-BE49-F238E27FC236}">
                <a16:creationId xmlns:a16="http://schemas.microsoft.com/office/drawing/2014/main" id="{1FC5DA99-905C-4E95-ACC2-4E46BDED80FC}"/>
              </a:ext>
            </a:extLst>
          </p:cNvPr>
          <p:cNvSpPr>
            <a:spLocks noChangeArrowheads="1"/>
          </p:cNvSpPr>
          <p:nvPr/>
        </p:nvSpPr>
        <p:spPr bwMode="auto">
          <a:xfrm>
            <a:off x="-3352800" y="3009900"/>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2A467651-FBAD-45EF-A055-7FF9CBB8B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97200" y="-316236"/>
            <a:ext cx="2590800" cy="3014749"/>
          </a:xfrm>
          <a:prstGeom prst="rect">
            <a:avLst/>
          </a:prstGeom>
        </p:spPr>
      </p:pic>
      <p:sp>
        <p:nvSpPr>
          <p:cNvPr id="10" name="TextBox 9">
            <a:extLst>
              <a:ext uri="{FF2B5EF4-FFF2-40B4-BE49-F238E27FC236}">
                <a16:creationId xmlns:a16="http://schemas.microsoft.com/office/drawing/2014/main" id="{EB506A16-364E-4FBC-AE90-4F6CDEB6A85F}"/>
              </a:ext>
            </a:extLst>
          </p:cNvPr>
          <p:cNvSpPr txBox="1"/>
          <p:nvPr/>
        </p:nvSpPr>
        <p:spPr>
          <a:xfrm>
            <a:off x="576943" y="2247900"/>
            <a:ext cx="11609614" cy="452431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Extension to multi-class hemorrhage detection (subtypes classification).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Integration of Explainable AI techniques like Grad-CAM for visualization.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Deployment in real-time hospital environments.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Cloud-based model integration for remote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Training with larger and diverse medical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Bell MT" panose="02020503060305020303" pitchFamily="18" charset="0"/>
              </a:rPr>
              <a:t>Integration with hospital information systems (HIS).</a:t>
            </a:r>
          </a:p>
        </p:txBody>
      </p:sp>
    </p:spTree>
    <p:extLst>
      <p:ext uri="{BB962C8B-B14F-4D97-AF65-F5344CB8AC3E}">
        <p14:creationId xmlns:p14="http://schemas.microsoft.com/office/powerpoint/2010/main" val="4066169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4"/>
          <p:cNvSpPr txBox="1"/>
          <p:nvPr/>
        </p:nvSpPr>
        <p:spPr>
          <a:xfrm>
            <a:off x="7850237" y="9182100"/>
            <a:ext cx="2587526" cy="280846"/>
          </a:xfrm>
          <a:prstGeom prst="rect">
            <a:avLst/>
          </a:prstGeom>
        </p:spPr>
        <p:txBody>
          <a:bodyPr lIns="0" tIns="0" rIns="0" bIns="0" rtlCol="0" anchor="t">
            <a:spAutoFit/>
          </a:bodyPr>
          <a:lstStyle/>
          <a:p>
            <a:pPr algn="ctr">
              <a:lnSpc>
                <a:spcPts val="2520"/>
              </a:lnSpc>
              <a:spcBef>
                <a:spcPct val="0"/>
              </a:spcBef>
            </a:pPr>
            <a:r>
              <a:rPr lang="en-US" sz="1800" dirty="0">
                <a:solidFill>
                  <a:srgbClr val="FFFFFF"/>
                </a:solidFill>
                <a:latin typeface="Futura"/>
                <a:ea typeface="Futura"/>
                <a:cs typeface="Futura"/>
                <a:sym typeface="Futura"/>
              </a:rPr>
              <a:t>a</a:t>
            </a:r>
          </a:p>
        </p:txBody>
      </p:sp>
      <p:sp>
        <p:nvSpPr>
          <p:cNvPr id="3" name="TextBox 2">
            <a:extLst>
              <a:ext uri="{FF2B5EF4-FFF2-40B4-BE49-F238E27FC236}">
                <a16:creationId xmlns:a16="http://schemas.microsoft.com/office/drawing/2014/main" id="{F8F05FC0-48F8-49D4-BE2A-375203DECEDA}"/>
              </a:ext>
            </a:extLst>
          </p:cNvPr>
          <p:cNvSpPr txBox="1"/>
          <p:nvPr/>
        </p:nvSpPr>
        <p:spPr>
          <a:xfrm>
            <a:off x="609600" y="364672"/>
            <a:ext cx="15697200" cy="6201698"/>
          </a:xfrm>
          <a:prstGeom prst="rect">
            <a:avLst/>
          </a:prstGeom>
          <a:noFill/>
        </p:spPr>
        <p:txBody>
          <a:bodyPr wrap="square" rtlCol="0">
            <a:spAutoFit/>
          </a:bodyPr>
          <a:lstStyle/>
          <a:p>
            <a:r>
              <a:rPr lang="en-IN" sz="8000" dirty="0">
                <a:solidFill>
                  <a:srgbClr val="1A237E"/>
                </a:solidFill>
                <a:latin typeface="Algerian" panose="04020705040A02060702" pitchFamily="82" charset="0"/>
              </a:rPr>
              <a:t>Conclusion</a:t>
            </a:r>
          </a:p>
          <a:p>
            <a:endParaRPr lang="en-IN" sz="2900" dirty="0">
              <a:solidFill>
                <a:schemeClr val="bg1"/>
              </a:solidFill>
            </a:endParaRPr>
          </a:p>
          <a:p>
            <a:r>
              <a:rPr lang="en-US" sz="3200" dirty="0">
                <a:latin typeface="Bell MT" panose="02020503060305020303" pitchFamily="18" charset="0"/>
              </a:rPr>
              <a:t>This project successfully developed a deep learning-based brain hemorrhage detection system using CT scan images. Transfer learning was implemented using the InceptionV3 architecture to efficiently extract meaningful features and perform binary classification between hemorrhage and normal cases. Image preprocessing and augmentation techniques improved model robustness and performance. The system was evaluated using accuracy, sensitivity, specificity, and ROC curve, demonstrating reliable classification results. Finally, the trained model was deployed using Flask to provide a web-based prediction interface. Overall, the project highlights the effectiveness of artificial intelligence in assisting radiologists and improving early diagnosis of brain hemorrhage.</a:t>
            </a:r>
            <a:endParaRPr lang="en-IN" sz="2900" dirty="0">
              <a:solidFill>
                <a:schemeClr val="bg1"/>
              </a:solidFill>
              <a:latin typeface="Bell MT" panose="02020503060305020303" pitchFamily="18" charset="0"/>
            </a:endParaRPr>
          </a:p>
        </p:txBody>
      </p:sp>
      <p:sp>
        <p:nvSpPr>
          <p:cNvPr id="12" name="Rectangle 4">
            <a:extLst>
              <a:ext uri="{FF2B5EF4-FFF2-40B4-BE49-F238E27FC236}">
                <a16:creationId xmlns:a16="http://schemas.microsoft.com/office/drawing/2014/main" id="{1FC5DA99-905C-4E95-ACC2-4E46BDED80FC}"/>
              </a:ext>
            </a:extLst>
          </p:cNvPr>
          <p:cNvSpPr>
            <a:spLocks noChangeArrowheads="1"/>
          </p:cNvSpPr>
          <p:nvPr/>
        </p:nvSpPr>
        <p:spPr bwMode="auto">
          <a:xfrm>
            <a:off x="-3352800" y="3009900"/>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2A467651-FBAD-45EF-A055-7FF9CBB8B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15414" y="-316235"/>
            <a:ext cx="2072586" cy="2411736"/>
          </a:xfrm>
          <a:prstGeom prst="rect">
            <a:avLst/>
          </a:prstGeom>
        </p:spPr>
      </p:pic>
    </p:spTree>
    <p:extLst>
      <p:ext uri="{BB962C8B-B14F-4D97-AF65-F5344CB8AC3E}">
        <p14:creationId xmlns:p14="http://schemas.microsoft.com/office/powerpoint/2010/main" val="2315994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4"/>
          <p:cNvSpPr txBox="1"/>
          <p:nvPr/>
        </p:nvSpPr>
        <p:spPr>
          <a:xfrm>
            <a:off x="7850237" y="9182100"/>
            <a:ext cx="2587526" cy="280846"/>
          </a:xfrm>
          <a:prstGeom prst="rect">
            <a:avLst/>
          </a:prstGeom>
        </p:spPr>
        <p:txBody>
          <a:bodyPr lIns="0" tIns="0" rIns="0" bIns="0" rtlCol="0" anchor="t">
            <a:spAutoFit/>
          </a:bodyPr>
          <a:lstStyle/>
          <a:p>
            <a:pPr algn="ctr">
              <a:lnSpc>
                <a:spcPts val="2520"/>
              </a:lnSpc>
              <a:spcBef>
                <a:spcPct val="0"/>
              </a:spcBef>
            </a:pPr>
            <a:r>
              <a:rPr lang="en-US" sz="1800" dirty="0">
                <a:solidFill>
                  <a:srgbClr val="FFFFFF"/>
                </a:solidFill>
                <a:latin typeface="Futura"/>
                <a:ea typeface="Futura"/>
                <a:cs typeface="Futura"/>
                <a:sym typeface="Futura"/>
              </a:rPr>
              <a:t>a</a:t>
            </a:r>
          </a:p>
        </p:txBody>
      </p:sp>
      <p:sp>
        <p:nvSpPr>
          <p:cNvPr id="3" name="TextBox 2">
            <a:extLst>
              <a:ext uri="{FF2B5EF4-FFF2-40B4-BE49-F238E27FC236}">
                <a16:creationId xmlns:a16="http://schemas.microsoft.com/office/drawing/2014/main" id="{F8F05FC0-48F8-49D4-BE2A-375203DECEDA}"/>
              </a:ext>
            </a:extLst>
          </p:cNvPr>
          <p:cNvSpPr txBox="1"/>
          <p:nvPr/>
        </p:nvSpPr>
        <p:spPr>
          <a:xfrm>
            <a:off x="609600" y="364672"/>
            <a:ext cx="15697200" cy="1323439"/>
          </a:xfrm>
          <a:prstGeom prst="rect">
            <a:avLst/>
          </a:prstGeom>
          <a:noFill/>
        </p:spPr>
        <p:txBody>
          <a:bodyPr wrap="square" rtlCol="0">
            <a:spAutoFit/>
          </a:bodyPr>
          <a:lstStyle/>
          <a:p>
            <a:r>
              <a:rPr lang="en-IN" sz="8000" dirty="0">
                <a:solidFill>
                  <a:srgbClr val="1A237E"/>
                </a:solidFill>
                <a:latin typeface="Algerian" panose="04020705040A02060702" pitchFamily="82" charset="0"/>
              </a:rPr>
              <a:t>references</a:t>
            </a:r>
            <a:endParaRPr lang="en-IN" sz="2900" dirty="0">
              <a:solidFill>
                <a:schemeClr val="bg1"/>
              </a:solidFill>
            </a:endParaRPr>
          </a:p>
        </p:txBody>
      </p:sp>
      <p:sp>
        <p:nvSpPr>
          <p:cNvPr id="12" name="Rectangle 4">
            <a:extLst>
              <a:ext uri="{FF2B5EF4-FFF2-40B4-BE49-F238E27FC236}">
                <a16:creationId xmlns:a16="http://schemas.microsoft.com/office/drawing/2014/main" id="{1FC5DA99-905C-4E95-ACC2-4E46BDED80FC}"/>
              </a:ext>
            </a:extLst>
          </p:cNvPr>
          <p:cNvSpPr>
            <a:spLocks noChangeArrowheads="1"/>
          </p:cNvSpPr>
          <p:nvPr/>
        </p:nvSpPr>
        <p:spPr bwMode="auto">
          <a:xfrm>
            <a:off x="-3352800" y="3009900"/>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2A467651-FBAD-45EF-A055-7FF9CBB8B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97200" y="-316236"/>
            <a:ext cx="2590800" cy="3014749"/>
          </a:xfrm>
          <a:prstGeom prst="rect">
            <a:avLst/>
          </a:prstGeom>
        </p:spPr>
      </p:pic>
      <p:sp>
        <p:nvSpPr>
          <p:cNvPr id="10" name="TextBox 9">
            <a:extLst>
              <a:ext uri="{FF2B5EF4-FFF2-40B4-BE49-F238E27FC236}">
                <a16:creationId xmlns:a16="http://schemas.microsoft.com/office/drawing/2014/main" id="{EB506A16-364E-4FBC-AE90-4F6CDEB6A85F}"/>
              </a:ext>
            </a:extLst>
          </p:cNvPr>
          <p:cNvSpPr txBox="1"/>
          <p:nvPr/>
        </p:nvSpPr>
        <p:spPr>
          <a:xfrm>
            <a:off x="288472" y="1773346"/>
            <a:ext cx="15729857" cy="8956298"/>
          </a:xfrm>
          <a:prstGeom prst="rect">
            <a:avLst/>
          </a:prstGeom>
          <a:noFill/>
        </p:spPr>
        <p:txBody>
          <a:bodyPr wrap="square">
            <a:spAutoFit/>
          </a:bodyPr>
          <a:lstStyle/>
          <a:p>
            <a:r>
              <a:rPr lang="en-IN" sz="3600" dirty="0">
                <a:latin typeface="Bell MT" panose="02020503060305020303" pitchFamily="18" charset="0"/>
              </a:rPr>
              <a:t>[1] J. Yang et al., “Machine Learning-Based Stroke Prediction Using </a:t>
            </a:r>
            <a:r>
              <a:rPr lang="en-IN" sz="3600" dirty="0" err="1">
                <a:latin typeface="Bell MT" panose="02020503060305020303" pitchFamily="18" charset="0"/>
              </a:rPr>
              <a:t>XGBoost</a:t>
            </a:r>
            <a:r>
              <a:rPr lang="en-IN" sz="3600" dirty="0">
                <a:latin typeface="Bell MT" panose="02020503060305020303" pitchFamily="18" charset="0"/>
              </a:rPr>
              <a:t>,” </a:t>
            </a:r>
            <a:r>
              <a:rPr lang="en-IN" sz="3600" i="1" dirty="0">
                <a:latin typeface="Bell MT" panose="02020503060305020303" pitchFamily="18" charset="0"/>
              </a:rPr>
              <a:t>JMIR Medical Informatics</a:t>
            </a:r>
            <a:r>
              <a:rPr lang="en-IN" sz="3600" dirty="0">
                <a:latin typeface="Bell MT" panose="02020503060305020303" pitchFamily="18" charset="0"/>
              </a:rPr>
              <a:t>, vol. 9, no. 6, 2021</a:t>
            </a:r>
          </a:p>
          <a:p>
            <a:endParaRPr lang="en-IN" sz="3600" dirty="0">
              <a:latin typeface="Bell MT" panose="02020503060305020303" pitchFamily="18" charset="0"/>
            </a:endParaRPr>
          </a:p>
          <a:p>
            <a:r>
              <a:rPr lang="en-IN" sz="3600" dirty="0">
                <a:latin typeface="Bell MT" panose="02020503060305020303" pitchFamily="18" charset="0"/>
              </a:rPr>
              <a:t>[2] S. Chun et al., “Comparison of Machine Learning and Cox Regression for Stroke Risk Prediction,” </a:t>
            </a:r>
            <a:r>
              <a:rPr lang="en-IN" sz="3600" i="1" dirty="0">
                <a:latin typeface="Bell MT" panose="02020503060305020303" pitchFamily="18" charset="0"/>
              </a:rPr>
              <a:t>Journal of the American Medical Informatics Association</a:t>
            </a:r>
            <a:r>
              <a:rPr lang="en-IN" sz="3600" dirty="0">
                <a:latin typeface="Bell MT" panose="02020503060305020303" pitchFamily="18" charset="0"/>
              </a:rPr>
              <a:t>, vol. 28, no. 4, 2021.</a:t>
            </a:r>
          </a:p>
          <a:p>
            <a:endParaRPr lang="en-IN" sz="3600" dirty="0">
              <a:latin typeface="Bell MT" panose="02020503060305020303" pitchFamily="18" charset="0"/>
            </a:endParaRPr>
          </a:p>
          <a:p>
            <a:r>
              <a:rPr lang="en-IN" sz="3600" dirty="0">
                <a:latin typeface="Bell MT" panose="02020503060305020303" pitchFamily="18" charset="0"/>
              </a:rPr>
              <a:t>[3] H. </a:t>
            </a:r>
            <a:r>
              <a:rPr lang="en-IN" sz="3600" dirty="0" err="1">
                <a:latin typeface="Bell MT" panose="02020503060305020303" pitchFamily="18" charset="0"/>
              </a:rPr>
              <a:t>Alawad</a:t>
            </a:r>
            <a:r>
              <a:rPr lang="en-IN" sz="3600" dirty="0">
                <a:latin typeface="Bell MT" panose="02020503060305020303" pitchFamily="18" charset="0"/>
              </a:rPr>
              <a:t> et al., “Automated Brain </a:t>
            </a:r>
            <a:r>
              <a:rPr lang="en-IN" sz="3600" dirty="0" err="1">
                <a:latin typeface="Bell MT" panose="02020503060305020303" pitchFamily="18" charset="0"/>
              </a:rPr>
              <a:t>Hemorrhage</a:t>
            </a:r>
            <a:r>
              <a:rPr lang="en-IN" sz="3600" dirty="0">
                <a:latin typeface="Bell MT" panose="02020503060305020303" pitchFamily="18" charset="0"/>
              </a:rPr>
              <a:t> Detection Using Genetic Algorithm-Based Feature Selection,” 2022.</a:t>
            </a:r>
          </a:p>
          <a:p>
            <a:endParaRPr lang="en-IN" sz="3600" dirty="0">
              <a:latin typeface="Bell MT" panose="02020503060305020303" pitchFamily="18" charset="0"/>
            </a:endParaRPr>
          </a:p>
          <a:p>
            <a:r>
              <a:rPr lang="en-IN" sz="3600" dirty="0">
                <a:latin typeface="Bell MT" panose="02020503060305020303" pitchFamily="18" charset="0"/>
              </a:rPr>
              <a:t>[4] M. Ahmed et al., “Deep Learning-Based Brain </a:t>
            </a:r>
            <a:r>
              <a:rPr lang="en-IN" sz="3600" dirty="0" err="1">
                <a:latin typeface="Bell MT" panose="02020503060305020303" pitchFamily="18" charset="0"/>
              </a:rPr>
              <a:t>Hemorrhage</a:t>
            </a:r>
            <a:r>
              <a:rPr lang="en-IN" sz="3600" dirty="0">
                <a:latin typeface="Bell MT" panose="02020503060305020303" pitchFamily="18" charset="0"/>
              </a:rPr>
              <a:t> Classification Using CT Images,” </a:t>
            </a:r>
            <a:r>
              <a:rPr lang="en-IN" sz="3600" i="1" dirty="0">
                <a:latin typeface="Bell MT" panose="02020503060305020303" pitchFamily="18" charset="0"/>
              </a:rPr>
              <a:t>IEEE Access</a:t>
            </a:r>
            <a:r>
              <a:rPr lang="en-IN" sz="3600" dirty="0">
                <a:latin typeface="Bell MT" panose="02020503060305020303" pitchFamily="18" charset="0"/>
              </a:rPr>
              <a:t>, 2024.</a:t>
            </a:r>
          </a:p>
          <a:p>
            <a:endParaRPr lang="en-IN" sz="3600" dirty="0">
              <a:latin typeface="Bell MT" panose="02020503060305020303" pitchFamily="18" charset="0"/>
            </a:endParaRPr>
          </a:p>
          <a:p>
            <a:r>
              <a:rPr lang="en-IN" sz="3600" dirty="0">
                <a:latin typeface="Bell MT" panose="02020503060305020303" pitchFamily="18" charset="0"/>
              </a:rPr>
              <a:t>[5] C. </a:t>
            </a:r>
            <a:r>
              <a:rPr lang="en-IN" sz="3600" dirty="0" err="1">
                <a:latin typeface="Bell MT" panose="02020503060305020303" pitchFamily="18" charset="0"/>
              </a:rPr>
              <a:t>Szegedy</a:t>
            </a:r>
            <a:r>
              <a:rPr lang="en-IN" sz="3600" dirty="0">
                <a:latin typeface="Bell MT" panose="02020503060305020303" pitchFamily="18" charset="0"/>
              </a:rPr>
              <a:t> et al., “Rethinking the Inception Architecture for Computer Vision,” </a:t>
            </a:r>
            <a:r>
              <a:rPr lang="en-IN" sz="3600" i="1" dirty="0">
                <a:latin typeface="Bell MT" panose="02020503060305020303" pitchFamily="18" charset="0"/>
              </a:rPr>
              <a:t>Proceedings of CVPR</a:t>
            </a:r>
            <a:r>
              <a:rPr lang="en-IN" sz="3600" dirty="0">
                <a:latin typeface="Bell MT" panose="02020503060305020303" pitchFamily="18" charset="0"/>
              </a:rPr>
              <a:t>, 2016.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600" b="0" i="0" u="none" strike="noStrike" cap="none" normalizeH="0" baseline="0" dirty="0">
              <a:ln>
                <a:noFill/>
              </a:ln>
              <a:solidFill>
                <a:schemeClr val="tx1"/>
              </a:solidFill>
              <a:effectLst/>
              <a:latin typeface="Bell MT" panose="02020503060305020303" pitchFamily="18" charset="0"/>
            </a:endParaRPr>
          </a:p>
        </p:txBody>
      </p:sp>
    </p:spTree>
    <p:extLst>
      <p:ext uri="{BB962C8B-B14F-4D97-AF65-F5344CB8AC3E}">
        <p14:creationId xmlns:p14="http://schemas.microsoft.com/office/powerpoint/2010/main" val="2600999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4"/>
          <p:cNvSpPr txBox="1"/>
          <p:nvPr/>
        </p:nvSpPr>
        <p:spPr>
          <a:xfrm>
            <a:off x="7850237" y="9182100"/>
            <a:ext cx="2587526" cy="280846"/>
          </a:xfrm>
          <a:prstGeom prst="rect">
            <a:avLst/>
          </a:prstGeom>
        </p:spPr>
        <p:txBody>
          <a:bodyPr lIns="0" tIns="0" rIns="0" bIns="0" rtlCol="0" anchor="t">
            <a:spAutoFit/>
          </a:bodyPr>
          <a:lstStyle/>
          <a:p>
            <a:pPr algn="ctr">
              <a:lnSpc>
                <a:spcPts val="2520"/>
              </a:lnSpc>
              <a:spcBef>
                <a:spcPct val="0"/>
              </a:spcBef>
            </a:pPr>
            <a:r>
              <a:rPr lang="en-US" sz="1800" dirty="0">
                <a:solidFill>
                  <a:srgbClr val="FFFFFF"/>
                </a:solidFill>
                <a:latin typeface="Futura"/>
                <a:ea typeface="Futura"/>
                <a:cs typeface="Futura"/>
                <a:sym typeface="Futura"/>
              </a:rPr>
              <a:t>a</a:t>
            </a:r>
          </a:p>
        </p:txBody>
      </p:sp>
      <p:pic>
        <p:nvPicPr>
          <p:cNvPr id="13" name="Picture 12">
            <a:extLst>
              <a:ext uri="{FF2B5EF4-FFF2-40B4-BE49-F238E27FC236}">
                <a16:creationId xmlns:a16="http://schemas.microsoft.com/office/drawing/2014/main" id="{5F9F58A4-5928-4889-9B47-93C5CB04151E}"/>
              </a:ext>
            </a:extLst>
          </p:cNvPr>
          <p:cNvPicPr>
            <a:picLocks noChangeAspect="1"/>
          </p:cNvPicPr>
          <p:nvPr/>
        </p:nvPicPr>
        <p:blipFill>
          <a:blip r:embed="rId2">
            <a:alphaModFix amt="26000"/>
            <a:extLst>
              <a:ext uri="{28A0092B-C50C-407E-A947-70E740481C1C}">
                <a14:useLocalDpi xmlns:a14="http://schemas.microsoft.com/office/drawing/2010/main" val="0"/>
              </a:ext>
            </a:extLst>
          </a:blip>
          <a:stretch>
            <a:fillRect/>
          </a:stretch>
        </p:blipFill>
        <p:spPr>
          <a:xfrm rot="19790290">
            <a:off x="4043530" y="1353549"/>
            <a:ext cx="8936249" cy="6977377"/>
          </a:xfrm>
          <a:prstGeom prst="rect">
            <a:avLst/>
          </a:prstGeom>
          <a:effectLst>
            <a:reflection endPos="65000" dist="50800" dir="5400000" sy="-100000" algn="bl" rotWithShape="0"/>
          </a:effectLst>
        </p:spPr>
      </p:pic>
      <p:sp>
        <p:nvSpPr>
          <p:cNvPr id="3" name="TextBox 2">
            <a:extLst>
              <a:ext uri="{FF2B5EF4-FFF2-40B4-BE49-F238E27FC236}">
                <a16:creationId xmlns:a16="http://schemas.microsoft.com/office/drawing/2014/main" id="{4F6B540D-4287-4975-B9D5-0259E00ECA16}"/>
              </a:ext>
            </a:extLst>
          </p:cNvPr>
          <p:cNvSpPr txBox="1"/>
          <p:nvPr/>
        </p:nvSpPr>
        <p:spPr>
          <a:xfrm rot="19837134">
            <a:off x="1772125" y="1256935"/>
            <a:ext cx="12555298" cy="5478423"/>
          </a:xfrm>
          <a:prstGeom prst="rect">
            <a:avLst/>
          </a:prstGeom>
          <a:noFill/>
        </p:spPr>
        <p:txBody>
          <a:bodyPr wrap="square" rtlCol="0">
            <a:spAutoFit/>
          </a:bodyPr>
          <a:lstStyle/>
          <a:p>
            <a:r>
              <a:rPr lang="en-IN" sz="35000" dirty="0">
                <a:solidFill>
                  <a:srgbClr val="1A237E"/>
                </a:solidFill>
                <a:latin typeface="Palace Script MT" panose="030303020206070C0B05" pitchFamily="66" charset="0"/>
              </a:rPr>
              <a:t>Thankyou</a:t>
            </a:r>
          </a:p>
        </p:txBody>
      </p:sp>
    </p:spTree>
    <p:extLst>
      <p:ext uri="{BB962C8B-B14F-4D97-AF65-F5344CB8AC3E}">
        <p14:creationId xmlns:p14="http://schemas.microsoft.com/office/powerpoint/2010/main" val="3944941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1597</TotalTime>
  <Words>1104</Words>
  <Application>Microsoft Office PowerPoint</Application>
  <PresentationFormat>Custom</PresentationFormat>
  <Paragraphs>190</Paragraphs>
  <Slides>23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Bell MT</vt:lpstr>
      <vt:lpstr>Arial</vt:lpstr>
      <vt:lpstr>Palace Script MT</vt:lpstr>
      <vt:lpstr>Times New Roman</vt:lpstr>
      <vt:lpstr>Futura</vt:lpstr>
      <vt:lpstr>Algerian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MODULES</vt:lpstr>
      <vt:lpstr>SYSTEM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Chalkboard Morph Teacher Introduction Slides</dc:title>
  <dc:creator>ADMIN</dc:creator>
  <cp:lastModifiedBy>mohammed irfan uddin</cp:lastModifiedBy>
  <cp:revision>21</cp:revision>
  <dcterms:created xsi:type="dcterms:W3CDTF">2006-08-16T00:00:00Z</dcterms:created>
  <dcterms:modified xsi:type="dcterms:W3CDTF">2026-02-27T16:49:45Z</dcterms:modified>
  <dc:identifier>DAGqE3NncWI</dc:identifier>
</cp:coreProperties>
</file>