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32"/>
  </p:notesMasterIdLst>
  <p:sldIdLst>
    <p:sldId id="256" r:id="rId2"/>
    <p:sldId id="257" r:id="rId3"/>
    <p:sldId id="298" r:id="rId4"/>
    <p:sldId id="258" r:id="rId5"/>
    <p:sldId id="259" r:id="rId6"/>
    <p:sldId id="269" r:id="rId7"/>
    <p:sldId id="293" r:id="rId8"/>
    <p:sldId id="266" r:id="rId9"/>
    <p:sldId id="270" r:id="rId10"/>
    <p:sldId id="286" r:id="rId11"/>
    <p:sldId id="313" r:id="rId12"/>
    <p:sldId id="287" r:id="rId13"/>
    <p:sldId id="294" r:id="rId14"/>
    <p:sldId id="271" r:id="rId15"/>
    <p:sldId id="295" r:id="rId16"/>
    <p:sldId id="296" r:id="rId17"/>
    <p:sldId id="290" r:id="rId18"/>
    <p:sldId id="314" r:id="rId19"/>
    <p:sldId id="306" r:id="rId20"/>
    <p:sldId id="307" r:id="rId21"/>
    <p:sldId id="308" r:id="rId22"/>
    <p:sldId id="309" r:id="rId23"/>
    <p:sldId id="310" r:id="rId24"/>
    <p:sldId id="311" r:id="rId25"/>
    <p:sldId id="301" r:id="rId26"/>
    <p:sldId id="302" r:id="rId27"/>
    <p:sldId id="291" r:id="rId28"/>
    <p:sldId id="312" r:id="rId29"/>
    <p:sldId id="305" r:id="rId30"/>
    <p:sldId id="264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2" y="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rmeen Jameel" userId="7f4852291e60e7d5" providerId="LiveId" clId="{C1D448C5-1746-4B42-8F81-71893D054BFC}"/>
    <pc:docChg chg="custSel modSld sldOrd">
      <pc:chgData name="Narmeen Jameel" userId="7f4852291e60e7d5" providerId="LiveId" clId="{C1D448C5-1746-4B42-8F81-71893D054BFC}" dt="2026-04-19T14:35:17.998" v="19" actId="1076"/>
      <pc:docMkLst>
        <pc:docMk/>
      </pc:docMkLst>
      <pc:sldChg chg="ord">
        <pc:chgData name="Narmeen Jameel" userId="7f4852291e60e7d5" providerId="LiveId" clId="{C1D448C5-1746-4B42-8F81-71893D054BFC}" dt="2026-04-19T13:08:52.072" v="1"/>
        <pc:sldMkLst>
          <pc:docMk/>
          <pc:sldMk cId="1100704923" sldId="259"/>
        </pc:sldMkLst>
      </pc:sldChg>
      <pc:sldChg chg="ord">
        <pc:chgData name="Narmeen Jameel" userId="7f4852291e60e7d5" providerId="LiveId" clId="{C1D448C5-1746-4B42-8F81-71893D054BFC}" dt="2026-04-19T13:44:29.424" v="9"/>
        <pc:sldMkLst>
          <pc:docMk/>
          <pc:sldMk cId="1685756221" sldId="269"/>
        </pc:sldMkLst>
      </pc:sldChg>
      <pc:sldChg chg="ord">
        <pc:chgData name="Narmeen Jameel" userId="7f4852291e60e7d5" providerId="LiveId" clId="{C1D448C5-1746-4B42-8F81-71893D054BFC}" dt="2026-04-19T14:21:31.246" v="13"/>
        <pc:sldMkLst>
          <pc:docMk/>
          <pc:sldMk cId="623571447" sldId="286"/>
        </pc:sldMkLst>
      </pc:sldChg>
      <pc:sldChg chg="ord">
        <pc:chgData name="Narmeen Jameel" userId="7f4852291e60e7d5" providerId="LiveId" clId="{C1D448C5-1746-4B42-8F81-71893D054BFC}" dt="2026-04-19T13:44:24.315" v="7"/>
        <pc:sldMkLst>
          <pc:docMk/>
          <pc:sldMk cId="3205272149" sldId="293"/>
        </pc:sldMkLst>
      </pc:sldChg>
      <pc:sldChg chg="ord">
        <pc:chgData name="Narmeen Jameel" userId="7f4852291e60e7d5" providerId="LiveId" clId="{C1D448C5-1746-4B42-8F81-71893D054BFC}" dt="2026-04-19T14:16:17.161" v="11"/>
        <pc:sldMkLst>
          <pc:docMk/>
          <pc:sldMk cId="1956777477" sldId="294"/>
        </pc:sldMkLst>
      </pc:sldChg>
      <pc:sldChg chg="addSp delSp modSp mod">
        <pc:chgData name="Narmeen Jameel" userId="7f4852291e60e7d5" providerId="LiveId" clId="{C1D448C5-1746-4B42-8F81-71893D054BFC}" dt="2026-04-19T14:35:17.998" v="19" actId="1076"/>
        <pc:sldMkLst>
          <pc:docMk/>
          <pc:sldMk cId="1685946815" sldId="314"/>
        </pc:sldMkLst>
        <pc:spChg chg="add del mod">
          <ac:chgData name="Narmeen Jameel" userId="7f4852291e60e7d5" providerId="LiveId" clId="{C1D448C5-1746-4B42-8F81-71893D054BFC}" dt="2026-04-19T14:35:04.483" v="15"/>
          <ac:spMkLst>
            <pc:docMk/>
            <pc:sldMk cId="1685946815" sldId="314"/>
            <ac:spMk id="7" creationId="{A2EB84CF-8ECD-54AE-EFD0-AC09C5A31873}"/>
          </ac:spMkLst>
        </pc:spChg>
        <pc:picChg chg="del">
          <ac:chgData name="Narmeen Jameel" userId="7f4852291e60e7d5" providerId="LiveId" clId="{C1D448C5-1746-4B42-8F81-71893D054BFC}" dt="2026-04-19T14:34:50.939" v="14" actId="21"/>
          <ac:picMkLst>
            <pc:docMk/>
            <pc:sldMk cId="1685946815" sldId="314"/>
            <ac:picMk id="5" creationId="{1DCE1C80-6D1F-515E-D8F9-4A808D96DDA8}"/>
          </ac:picMkLst>
        </pc:picChg>
        <pc:picChg chg="add mod">
          <ac:chgData name="Narmeen Jameel" userId="7f4852291e60e7d5" providerId="LiveId" clId="{C1D448C5-1746-4B42-8F81-71893D054BFC}" dt="2026-04-19T14:35:17.998" v="19" actId="1076"/>
          <ac:picMkLst>
            <pc:docMk/>
            <pc:sldMk cId="1685946815" sldId="314"/>
            <ac:picMk id="9" creationId="{BAFE21BB-AF9A-FCF5-52A9-78ABAD2BCB95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57DF22-C121-4211-B459-645D5811ACD2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</dgm:pt>
    <dgm:pt modelId="{21038047-6FE0-4739-88A2-C3DA508BE489}">
      <dgm:prSet phldrT="[Text]" phldr="1"/>
      <dgm:spPr/>
      <dgm:t>
        <a:bodyPr/>
        <a:lstStyle/>
        <a:p>
          <a:endParaRPr lang="en-US" dirty="0"/>
        </a:p>
      </dgm:t>
    </dgm:pt>
    <dgm:pt modelId="{923299C0-3588-4A34-9AF0-F298AC2C5959}" type="parTrans" cxnId="{0BBEF26B-1D1F-435B-A961-50710246A9B4}">
      <dgm:prSet/>
      <dgm:spPr/>
      <dgm:t>
        <a:bodyPr/>
        <a:lstStyle/>
        <a:p>
          <a:endParaRPr lang="en-US"/>
        </a:p>
      </dgm:t>
    </dgm:pt>
    <dgm:pt modelId="{1D7A2D15-45A1-488E-B6FC-C8000442EAF5}" type="sibTrans" cxnId="{0BBEF26B-1D1F-435B-A961-50710246A9B4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  <dgm:t>
        <a:bodyPr/>
        <a:lstStyle/>
        <a:p>
          <a:endParaRPr lang="en-US"/>
        </a:p>
      </dgm:t>
    </dgm:pt>
    <dgm:pt modelId="{540F156A-CD32-4D9F-AC78-865150C31227}" type="pres">
      <dgm:prSet presAssocID="{CD57DF22-C121-4211-B459-645D5811ACD2}" presName="Name0" presStyleCnt="0">
        <dgm:presLayoutVars>
          <dgm:chMax val="7"/>
          <dgm:chPref val="7"/>
          <dgm:dir/>
        </dgm:presLayoutVars>
      </dgm:prSet>
      <dgm:spPr/>
    </dgm:pt>
    <dgm:pt modelId="{BF950CCF-01C6-4007-8EE0-08E1E73C9FAB}" type="pres">
      <dgm:prSet presAssocID="{CD57DF22-C121-4211-B459-645D5811ACD2}" presName="Name1" presStyleCnt="0"/>
      <dgm:spPr/>
    </dgm:pt>
    <dgm:pt modelId="{984D8067-EF44-4C69-BF73-09D24E5927D1}" type="pres">
      <dgm:prSet presAssocID="{1D7A2D15-45A1-488E-B6FC-C8000442EAF5}" presName="picture_1" presStyleCnt="0"/>
      <dgm:spPr/>
    </dgm:pt>
    <dgm:pt modelId="{811DDA19-D8B0-4076-ABA6-CEC368D6C203}" type="pres">
      <dgm:prSet presAssocID="{1D7A2D15-45A1-488E-B6FC-C8000442EAF5}" presName="pictureRepeatNode" presStyleLbl="alignImgPlace1" presStyleIdx="0" presStyleCnt="1" custScaleX="200000" custScaleY="262375" custLinFactNeighborX="-16309" custLinFactNeighborY="-23988"/>
      <dgm:spPr/>
    </dgm:pt>
    <dgm:pt modelId="{2B986769-3B72-43D6-A24D-59E98B814876}" type="pres">
      <dgm:prSet presAssocID="{21038047-6FE0-4739-88A2-C3DA508BE489}" presName="text_1" presStyleLbl="node1" presStyleIdx="0" presStyleCnt="0" custFlipHor="1" custScaleX="4153" custScaleY="6970">
        <dgm:presLayoutVars>
          <dgm:bulletEnabled val="1"/>
        </dgm:presLayoutVars>
      </dgm:prSet>
      <dgm:spPr/>
    </dgm:pt>
  </dgm:ptLst>
  <dgm:cxnLst>
    <dgm:cxn modelId="{0BBEF26B-1D1F-435B-A961-50710246A9B4}" srcId="{CD57DF22-C121-4211-B459-645D5811ACD2}" destId="{21038047-6FE0-4739-88A2-C3DA508BE489}" srcOrd="0" destOrd="0" parTransId="{923299C0-3588-4A34-9AF0-F298AC2C5959}" sibTransId="{1D7A2D15-45A1-488E-B6FC-C8000442EAF5}"/>
    <dgm:cxn modelId="{6B5127AD-916F-42D2-A9D5-D4124F23E8AE}" type="presOf" srcId="{1D7A2D15-45A1-488E-B6FC-C8000442EAF5}" destId="{811DDA19-D8B0-4076-ABA6-CEC368D6C203}" srcOrd="0" destOrd="0" presId="urn:microsoft.com/office/officeart/2008/layout/CircularPictureCallout"/>
    <dgm:cxn modelId="{94933EB9-CC52-446A-98FE-C6A51C299252}" type="presOf" srcId="{21038047-6FE0-4739-88A2-C3DA508BE489}" destId="{2B986769-3B72-43D6-A24D-59E98B814876}" srcOrd="0" destOrd="0" presId="urn:microsoft.com/office/officeart/2008/layout/CircularPictureCallout"/>
    <dgm:cxn modelId="{0D998BC7-8DE2-4139-A2FF-FC56A4C08156}" type="presOf" srcId="{CD57DF22-C121-4211-B459-645D5811ACD2}" destId="{540F156A-CD32-4D9F-AC78-865150C31227}" srcOrd="0" destOrd="0" presId="urn:microsoft.com/office/officeart/2008/layout/CircularPictureCallout"/>
    <dgm:cxn modelId="{163E1616-4765-4FB9-8E05-41623AB1F71D}" type="presParOf" srcId="{540F156A-CD32-4D9F-AC78-865150C31227}" destId="{BF950CCF-01C6-4007-8EE0-08E1E73C9FAB}" srcOrd="0" destOrd="0" presId="urn:microsoft.com/office/officeart/2008/layout/CircularPictureCallout"/>
    <dgm:cxn modelId="{51CD6D8C-CA93-419A-A86D-8146B7BE9F75}" type="presParOf" srcId="{BF950CCF-01C6-4007-8EE0-08E1E73C9FAB}" destId="{984D8067-EF44-4C69-BF73-09D24E5927D1}" srcOrd="0" destOrd="0" presId="urn:microsoft.com/office/officeart/2008/layout/CircularPictureCallout"/>
    <dgm:cxn modelId="{C9D43F9A-20CE-4414-BA52-1D1CC14ECDD6}" type="presParOf" srcId="{984D8067-EF44-4C69-BF73-09D24E5927D1}" destId="{811DDA19-D8B0-4076-ABA6-CEC368D6C203}" srcOrd="0" destOrd="0" presId="urn:microsoft.com/office/officeart/2008/layout/CircularPictureCallout"/>
    <dgm:cxn modelId="{05BF38AD-C009-48D4-BF6B-8289BCF2A0C9}" type="presParOf" srcId="{BF950CCF-01C6-4007-8EE0-08E1E73C9FAB}" destId="{2B986769-3B72-43D6-A24D-59E98B814876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1DDA19-D8B0-4076-ABA6-CEC368D6C203}">
      <dsp:nvSpPr>
        <dsp:cNvPr id="0" name=""/>
        <dsp:cNvSpPr/>
      </dsp:nvSpPr>
      <dsp:spPr>
        <a:xfrm>
          <a:off x="0" y="-356079"/>
          <a:ext cx="4873840" cy="639386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986769-3B72-43D6-A24D-59E98B814876}">
      <dsp:nvSpPr>
        <dsp:cNvPr id="0" name=""/>
        <dsp:cNvSpPr/>
      </dsp:nvSpPr>
      <dsp:spPr>
        <a:xfrm flipH="1">
          <a:off x="2404534" y="3290465"/>
          <a:ext cx="64771" cy="56051"/>
        </a:xfrm>
        <a:prstGeom prst="rect">
          <a:avLst/>
        </a:prstGeom>
        <a:noFill/>
        <a:ln w="15875" cap="rnd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404534" y="3290465"/>
        <a:ext cx="64771" cy="560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F33DAA-EA3A-41D3-9E8E-682FC69F2A0C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24826D-9F3B-4342-B9AE-F4F8EEAD7B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45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24826D-9F3B-4342-B9AE-F4F8EEAD7BA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585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24826D-9F3B-4342-B9AE-F4F8EEAD7BA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961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E96B6-13BC-4AA4-9D0C-61E15EC6F2F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12F-43FE-4C07-B635-84E7E8C91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585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E96B6-13BC-4AA4-9D0C-61E15EC6F2F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4A6A112F-43FE-4C07-B635-84E7E8C91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677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E96B6-13BC-4AA4-9D0C-61E15EC6F2F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12F-43FE-4C07-B635-84E7E8C91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018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E96B6-13BC-4AA4-9D0C-61E15EC6F2F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12F-43FE-4C07-B635-84E7E8C91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106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E96B6-13BC-4AA4-9D0C-61E15EC6F2F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12F-43FE-4C07-B635-84E7E8C91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62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E96B6-13BC-4AA4-9D0C-61E15EC6F2F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12F-43FE-4C07-B635-84E7E8C91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153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E96B6-13BC-4AA4-9D0C-61E15EC6F2F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12F-43FE-4C07-B635-84E7E8C91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116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E96B6-13BC-4AA4-9D0C-61E15EC6F2F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12F-43FE-4C07-B635-84E7E8C91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8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E96B6-13BC-4AA4-9D0C-61E15EC6F2F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12F-43FE-4C07-B635-84E7E8C91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68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E96B6-13BC-4AA4-9D0C-61E15EC6F2F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12F-43FE-4C07-B635-84E7E8C91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103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E96B6-13BC-4AA4-9D0C-61E15EC6F2F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12F-43FE-4C07-B635-84E7E8C91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313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E96B6-13BC-4AA4-9D0C-61E15EC6F2F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12F-43FE-4C07-B635-84E7E8C91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23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E96B6-13BC-4AA4-9D0C-61E15EC6F2F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12F-43FE-4C07-B635-84E7E8C91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782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E96B6-13BC-4AA4-9D0C-61E15EC6F2F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12F-43FE-4C07-B635-84E7E8C91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706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E96B6-13BC-4AA4-9D0C-61E15EC6F2F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12F-43FE-4C07-B635-84E7E8C91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44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E96B6-13BC-4AA4-9D0C-61E15EC6F2F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12F-43FE-4C07-B635-84E7E8C91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691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E96B6-13BC-4AA4-9D0C-61E15EC6F2F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12F-43FE-4C07-B635-84E7E8C91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706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9AE96B6-13BC-4AA4-9D0C-61E15EC6F2F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A6A112F-43FE-4C07-B635-84E7E8C91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89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8AFC0F4-DBF4-57CA-37BA-A1EEE22D43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006" y="78754"/>
            <a:ext cx="5819787" cy="9773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BADFD4-15AB-815E-227D-5C2F4E15DC3D}"/>
              </a:ext>
            </a:extLst>
          </p:cNvPr>
          <p:cNvSpPr txBox="1"/>
          <p:nvPr/>
        </p:nvSpPr>
        <p:spPr>
          <a:xfrm>
            <a:off x="5638800" y="297425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26E4EE-BD7C-A14F-FA40-714FAA93B510}"/>
              </a:ext>
            </a:extLst>
          </p:cNvPr>
          <p:cNvSpPr txBox="1"/>
          <p:nvPr/>
        </p:nvSpPr>
        <p:spPr>
          <a:xfrm>
            <a:off x="1047565" y="1340228"/>
            <a:ext cx="1131902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</a:p>
          <a:p>
            <a:pPr algn="ctr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</a:t>
            </a: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US" sz="3600" b="1" dirty="0"/>
              <a:t>Lung Cancer Detection using  CNN        </a:t>
            </a:r>
          </a:p>
          <a:p>
            <a:pPr algn="ctr"/>
            <a:r>
              <a:rPr lang="en-US" sz="3600" b="1" dirty="0"/>
              <a:t>        </a:t>
            </a:r>
            <a:endParaRPr lang="en-US" sz="2400" b="1" dirty="0"/>
          </a:p>
          <a:p>
            <a:pPr algn="ctr"/>
            <a:endParaRPr lang="en-US" sz="3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85E39D-D1F5-3826-AF45-081DE816E02B}"/>
              </a:ext>
            </a:extLst>
          </p:cNvPr>
          <p:cNvSpPr txBox="1"/>
          <p:nvPr/>
        </p:nvSpPr>
        <p:spPr>
          <a:xfrm>
            <a:off x="4428096" y="4487364"/>
            <a:ext cx="36239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Mohammed Anas(160922737028)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Uddin(160922737004)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Amal Jameel        (160922737017)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62A8CB-60A8-FD97-1769-457E4D8C42D4}"/>
              </a:ext>
            </a:extLst>
          </p:cNvPr>
          <p:cNvSpPr txBox="1"/>
          <p:nvPr/>
        </p:nvSpPr>
        <p:spPr>
          <a:xfrm>
            <a:off x="8621936" y="4487364"/>
            <a:ext cx="34073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Sivaramakrishna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2734959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DABAD-4C88-28F7-A14C-A57F9DA8B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03701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7DFBC-5AC8-6570-0CA6-9A22BADFD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7100" y="2186247"/>
            <a:ext cx="10018713" cy="4131425"/>
          </a:xfrm>
        </p:spPr>
        <p:txBody>
          <a:bodyPr>
            <a:normAutofit/>
          </a:bodyPr>
          <a:lstStyle/>
          <a:p>
            <a:pPr>
              <a:buSzPct val="100000"/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</a:t>
            </a:r>
          </a:p>
          <a:p>
            <a:pPr>
              <a:buSzPct val="100000"/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>
              <a:buSzPct val="100000"/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>
              <a:buSzPct val="100000"/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>
              <a:buSzPct val="100000"/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>
              <a:buSzPct val="100000"/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marL="0" indent="0">
              <a:buSzPct val="100000"/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Pct val="100000"/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B29222-1AF1-D07C-B8CA-8CDD93F5C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502" y="150663"/>
            <a:ext cx="1186570" cy="13809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677B19-5B0C-47C2-A191-4A5A6B829D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443" y="1968419"/>
            <a:ext cx="6554680" cy="393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66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035DA-4A8C-4E74-BCCB-532BE8B98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Lung Cancer and Why is it Important to Detect?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C5C3F-71AD-4F13-9D42-07706C14C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438399"/>
            <a:ext cx="10018713" cy="398903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Lung Cancer: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Lung cancer is a disease where abnormal cells grow uncontrollably in the lungs.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one of the leading causes of cancer-related deaths worldwide.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Importance of Early Detection: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Increases survival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Helps start treatment early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Reduces spread of cancer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Saves lives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825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64BC7-3F75-A6F8-0BF9-CEFA9CEEF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0"/>
            <a:ext cx="10018713" cy="170451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FD8C7-49A2-8069-BD27-C9151FCB3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835" y="1158794"/>
            <a:ext cx="10018713" cy="554854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en-US" sz="2000" dirty="0"/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Lung cancer continues to be a leading cause of death globally.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Early detection is crucial for improving survival rates.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Deep learning offers potential for accurate and automated diagnosis.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project integrates InceptionV3, MobileNetV2,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Xception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and ResNet-50 models.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goal is to classify CT scan images as malignant or benign efficiently.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DFA92A-BF88-187A-E6A1-261D51931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502" y="150663"/>
            <a:ext cx="1186570" cy="138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78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EB74C-2AAA-2007-D10F-D575C43FE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559292"/>
            <a:ext cx="10018713" cy="246290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DFD03-C981-8A70-3C4E-972E9B675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736847"/>
            <a:ext cx="10018713" cy="5743851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Manual diagnosis is time-consuming and prone to human error.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Subtle or irregular nodules are difficult to detect.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Existing systems lack automation and high accuracy.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Need for early, reliable, and scalable detection methods.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Integration of AI and healthcare is necessary for improvement.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537239-547D-7784-634F-D03B7F5E2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502" y="150663"/>
            <a:ext cx="1186570" cy="138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704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E68C7-F494-CD37-8F8C-086E5B506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901" y="-122930"/>
            <a:ext cx="10018713" cy="117937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41CB79-4769-7ACC-500F-F1AE7D61965D}"/>
              </a:ext>
            </a:extLst>
          </p:cNvPr>
          <p:cNvSpPr txBox="1"/>
          <p:nvPr/>
        </p:nvSpPr>
        <p:spPr>
          <a:xfrm>
            <a:off x="1580225" y="1056443"/>
            <a:ext cx="1049340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Manual X-ray Examination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Often misses small nodules.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Low clarity and high chances of human error. Not suitable for early-stage cancer detection</a:t>
            </a: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Traditional CT Scan Reading by Radiologist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Tiny nodules can be overlooked.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Inconsistent results due to varying radiologist expertise.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Time-consuming to analyze many scan slices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AFE7A8-F83F-B5FA-C774-FE4CDD3470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502" y="150663"/>
            <a:ext cx="1186570" cy="117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756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656B1-3B14-4C9E-BAEF-F7619D0F6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 flipV="1">
            <a:off x="-266331" y="332913"/>
            <a:ext cx="186431" cy="18643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7F35FA1-629A-46DE-8AA1-5DB857ADB34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34" r="18334"/>
          <a:stretch>
            <a:fillRect/>
          </a:stretch>
        </p:blipFill>
        <p:spPr>
          <a:xfrm>
            <a:off x="7253056" y="362101"/>
            <a:ext cx="4938944" cy="5759730"/>
          </a:xfrm>
          <a:effectLst>
            <a:innerShdw blurRad="57150" dist="38100" dir="14460000">
              <a:srgbClr val="000000">
                <a:alpha val="70000"/>
              </a:srgbClr>
            </a:innerShdw>
            <a:softEdge rad="635000"/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044042-0C97-4B96-9CE3-E30F5819F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68953" y="-752383"/>
            <a:ext cx="6241001" cy="8149701"/>
          </a:xfrm>
        </p:spPr>
        <p:txBody>
          <a:bodyPr>
            <a:normAutofit/>
          </a:bodyPr>
          <a:lstStyle/>
          <a:p>
            <a:pPr algn="l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3. Rule-Based Computer-Aided Detection (Old CAD Systems)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Uses fixed rules such as size or shape thresholds.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Cannot detect irregular or complex tumor patterns.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Generates many false positives.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Not adaptive to new data or variations in scans</a:t>
            </a:r>
          </a:p>
          <a:p>
            <a:pPr algn="l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4. MRI (Traditional Imaging System)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Poor imaging quality in lungs due to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air-filled structures.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Not effective for early lung cancer.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Mostly used for detecting tumor spread, not initial detection</a:t>
            </a:r>
          </a:p>
        </p:txBody>
      </p:sp>
    </p:spTree>
    <p:extLst>
      <p:ext uri="{BB962C8B-B14F-4D97-AF65-F5344CB8AC3E}">
        <p14:creationId xmlns:p14="http://schemas.microsoft.com/office/powerpoint/2010/main" val="3205272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7C525BA-84BA-1BE2-3440-205DD722AB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502" y="150663"/>
            <a:ext cx="1186570" cy="138095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834DAC2-CA34-41A1-BA8D-7D06F25F5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734800" cy="1143000"/>
          </a:xfrm>
        </p:spPr>
        <p:txBody>
          <a:bodyPr/>
          <a:lstStyle/>
          <a:p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729C713-A02E-4597-8900-F69280E01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5634" y="274638"/>
            <a:ext cx="10156055" cy="6583362"/>
          </a:xfrm>
        </p:spPr>
        <p:txBody>
          <a:bodyPr>
            <a:normAutofit/>
          </a:bodyPr>
          <a:lstStyle/>
          <a:p>
            <a:r>
              <a:rPr dirty="0"/>
              <a:t> 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Develop an automated system for lung cancer detection using CT scans.</a:t>
            </a:r>
          </a:p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Utilize multiple deep learning architectures for comparison.</a:t>
            </a:r>
          </a:p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Enhance diagnostic accuracy and reduce human dependency.</a:t>
            </a:r>
          </a:p>
          <a:p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Provide faster diagnosis for better treatment outcomes.</a:t>
            </a:r>
          </a:p>
        </p:txBody>
      </p:sp>
    </p:spTree>
    <p:extLst>
      <p:ext uri="{BB962C8B-B14F-4D97-AF65-F5344CB8AC3E}">
        <p14:creationId xmlns:p14="http://schemas.microsoft.com/office/powerpoint/2010/main" val="364909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61292-6183-D6C4-999D-FAD5B016F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369" y="109175"/>
            <a:ext cx="10018713" cy="1271847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Drawbacks of Existing System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D9E192-2A83-939D-AABF-737882192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502" y="159541"/>
            <a:ext cx="1186570" cy="10380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1F9913-5744-4E1C-8E88-8F0AAA77215A}"/>
              </a:ext>
            </a:extLst>
          </p:cNvPr>
          <p:cNvSpPr txBox="1"/>
          <p:nvPr/>
        </p:nvSpPr>
        <p:spPr>
          <a:xfrm>
            <a:off x="1589103" y="1821899"/>
            <a:ext cx="1013296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High error rate in diagnosis.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Time-consuming image review process.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Limited accuracy in complex lesion detection.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Inefficient in large-scale screening.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No self-learning capability or adaptation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2119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B4C7-91A7-4937-BF96-99BF330B0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024" y="239328"/>
            <a:ext cx="10018711" cy="144780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Proposed System</a:t>
            </a:r>
            <a:endParaRPr lang="en-US" sz="4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0DF5A-3F59-4FDB-BFE2-57D3A5D3D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2" y="1890943"/>
            <a:ext cx="10018713" cy="4003829"/>
          </a:xfrm>
        </p:spPr>
        <p:txBody>
          <a:bodyPr/>
          <a:lstStyle/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Implements deep learning-based image analysis.</a:t>
            </a:r>
          </a:p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Integrates pre-trained CNN architectures (InceptionV3,            MobileNetV2,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Xception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ResNet-50).</a:t>
            </a:r>
          </a:p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Automates lung nodule identification and classification.</a:t>
            </a:r>
          </a:p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Uses transfer learning to boost efficiency.</a:t>
            </a:r>
          </a:p>
          <a:p>
            <a:pPr algn="l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• Focuses on robust and scalable detection framework.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35DB9A-A513-4088-BD43-DD192E438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502" y="150663"/>
            <a:ext cx="1186570" cy="103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571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FED1B-E52B-70E7-09EF-D62AA6CA0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0"/>
            <a:ext cx="9584476" cy="128824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Comparison table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B52C446-653D-FF5F-3A48-CE48FE9B57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9669" y="1434749"/>
            <a:ext cx="8786354" cy="466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476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4EAD2-20E4-431D-AE3C-65D36D8AF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881" y="301842"/>
            <a:ext cx="10018711" cy="1402671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Advantages of Proposed System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F8C34-B20F-4B97-8994-44AC19BEA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2" y="1704513"/>
            <a:ext cx="10018713" cy="4086687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Higher accuracy and faster diagnosis.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Reduced human error in detection.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Efficient feature extraction using deep CNNs.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Improved patient care through early detection.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Can be extended to other medical imaging tasks.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9C3BC2-8147-436F-B852-B4C656664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502" y="150663"/>
            <a:ext cx="1186570" cy="103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003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269B0-8C53-4E81-874B-1FBCCF349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2144"/>
            <a:ext cx="10018713" cy="1162974"/>
          </a:xfrm>
        </p:spPr>
        <p:txBody>
          <a:bodyPr>
            <a:norm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Using CT Scans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6BFAFC-C1A5-4ADD-8DEE-4D3E515E06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320" y="1367161"/>
            <a:ext cx="9727704" cy="4829451"/>
          </a:xfrm>
        </p:spPr>
      </p:pic>
    </p:spTree>
    <p:extLst>
      <p:ext uri="{BB962C8B-B14F-4D97-AF65-F5344CB8AC3E}">
        <p14:creationId xmlns:p14="http://schemas.microsoft.com/office/powerpoint/2010/main" val="1956777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A0489-5E4F-B31A-0C4B-B2C696C76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-66501"/>
            <a:ext cx="10018713" cy="1255222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System Modules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724343-1475-3C27-C654-07733F6973B8}"/>
              </a:ext>
            </a:extLst>
          </p:cNvPr>
          <p:cNvSpPr txBox="1"/>
          <p:nvPr/>
        </p:nvSpPr>
        <p:spPr>
          <a:xfrm>
            <a:off x="1484311" y="1531620"/>
            <a:ext cx="98755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Data Acquisition: Collect CT scan images of lungs.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Preprocessing: Enhance image quality and remove noise.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Model Training: Use CNN architectures with transfer learning.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Feature Extraction: Extract patterns and nodules from images.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Classification: Identify malignant vs benign tissues.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B71938-8474-AA34-065F-7C00374FA7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502" y="150663"/>
            <a:ext cx="1186570" cy="138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86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47388-9B42-4A6D-8A4E-B9D862D1D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724" y="79899"/>
            <a:ext cx="6746876" cy="110896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Software Requirements</a:t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graphicFrame>
        <p:nvGraphicFramePr>
          <p:cNvPr id="7" name="Picture Placeholder 6">
            <a:extLst>
              <a:ext uri="{FF2B5EF4-FFF2-40B4-BE49-F238E27FC236}">
                <a16:creationId xmlns:a16="http://schemas.microsoft.com/office/drawing/2014/main" id="{E651AAD1-C136-4F7D-8DF6-15D233121413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2535724875"/>
              </p:ext>
            </p:extLst>
          </p:nvPr>
        </p:nvGraphicFramePr>
        <p:xfrm>
          <a:off x="7217546" y="639192"/>
          <a:ext cx="4873840" cy="56817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3103F-DAF6-475C-8D9D-F588C269B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2724" y="1003177"/>
            <a:ext cx="5734822" cy="5060272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Python 3.x</a:t>
            </a:r>
          </a:p>
          <a:p>
            <a:pPr marL="571500" indent="-571500" algn="l">
              <a:buFont typeface="Wingdings" panose="05000000000000000000" pitchFamily="2" charset="2"/>
              <a:buChar char="§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TensorFlow /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Keras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l">
              <a:buFont typeface="Wingdings" panose="05000000000000000000" pitchFamily="2" charset="2"/>
              <a:buChar char="§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NumPy, OpenCV, Matplotlib</a:t>
            </a:r>
          </a:p>
          <a:p>
            <a:pPr marL="571500" indent="-571500" algn="l">
              <a:buFont typeface="Wingdings" panose="05000000000000000000" pitchFamily="2" charset="2"/>
              <a:buChar char="§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Scikit-learn</a:t>
            </a:r>
          </a:p>
          <a:p>
            <a:pPr marL="571500" indent="-571500" algn="l">
              <a:buFont typeface="Wingdings" panose="05000000000000000000" pitchFamily="2" charset="2"/>
              <a:buChar char="§"/>
            </a:pP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Notebook or Google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Colab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086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D6114-96A5-41BC-9ABA-3CBF5C9AC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787" y="115410"/>
            <a:ext cx="5974521" cy="120736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Hardware Requirements</a:t>
            </a:r>
            <a:b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103843D-86E8-4D5E-BC79-E975584428C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76" r="26076"/>
          <a:stretch>
            <a:fillRect/>
          </a:stretch>
        </p:blipFill>
        <p:spPr>
          <a:xfrm>
            <a:off x="7670309" y="861133"/>
            <a:ext cx="4145870" cy="559293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FEFAD-6616-44D8-8862-A924D58B2B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2723" y="1065320"/>
            <a:ext cx="5974521" cy="5792680"/>
          </a:xfrm>
        </p:spPr>
        <p:txBody>
          <a:bodyPr>
            <a:normAutofit/>
          </a:bodyPr>
          <a:lstStyle/>
          <a:p>
            <a:pPr marL="571500" indent="-571500" algn="l">
              <a:buFont typeface="Wingdings" panose="05000000000000000000" pitchFamily="2" charset="2"/>
              <a:buChar char="§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Processor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Intel i5/i7 or equivalent</a:t>
            </a:r>
          </a:p>
          <a:p>
            <a:pPr marL="571500" indent="-571500" algn="l">
              <a:buFont typeface="Wingdings" panose="05000000000000000000" pitchFamily="2" charset="2"/>
              <a:buChar char="§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RAM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Minimum 8 GB</a:t>
            </a:r>
          </a:p>
          <a:p>
            <a:pPr marL="571500" indent="-571500" algn="l">
              <a:buFont typeface="Wingdings" panose="05000000000000000000" pitchFamily="2" charset="2"/>
              <a:buChar char="§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GPU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NVIDIA GPU (for model training)</a:t>
            </a:r>
          </a:p>
          <a:p>
            <a:pPr marL="571500" indent="-571500" algn="l">
              <a:buFont typeface="Wingdings" panose="05000000000000000000" pitchFamily="2" charset="2"/>
              <a:buChar char="§"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: Minimum 10 GB free space</a:t>
            </a:r>
          </a:p>
          <a:p>
            <a:pPr marL="571500" indent="-571500" algn="l">
              <a:buFont typeface="Wingdings" panose="05000000000000000000" pitchFamily="2" charset="2"/>
              <a:buChar char="§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High-resolution display for visualization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953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28E347-496F-2A84-A74E-2EEEC9C054D8}"/>
              </a:ext>
            </a:extLst>
          </p:cNvPr>
          <p:cNvSpPr txBox="1"/>
          <p:nvPr/>
        </p:nvSpPr>
        <p:spPr>
          <a:xfrm>
            <a:off x="3172880" y="420099"/>
            <a:ext cx="100833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1CCC14-6E46-6B07-C2EC-F667AD950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502" y="150664"/>
            <a:ext cx="1186570" cy="12043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4E0E62-329C-4B5B-AD15-A0FA95CC469D}"/>
              </a:ext>
            </a:extLst>
          </p:cNvPr>
          <p:cNvSpPr txBox="1"/>
          <p:nvPr/>
        </p:nvSpPr>
        <p:spPr>
          <a:xfrm>
            <a:off x="1692416" y="1787717"/>
            <a:ext cx="952514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Input: CT scan image dataset.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Preprocessing and segmentation of lung images.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Feature extraction using deep CNN models.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Classification into malignant or benign categories.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Output: Diagnosis result displayed for review.</a:t>
            </a:r>
          </a:p>
        </p:txBody>
      </p:sp>
    </p:spTree>
    <p:extLst>
      <p:ext uri="{BB962C8B-B14F-4D97-AF65-F5344CB8AC3E}">
        <p14:creationId xmlns:p14="http://schemas.microsoft.com/office/powerpoint/2010/main" val="1772109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AFE21BB-AF9A-FCF5-52A9-78ABAD2BCB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355" y="889798"/>
            <a:ext cx="7890134" cy="5260089"/>
          </a:xfrm>
        </p:spPr>
      </p:pic>
    </p:spTree>
    <p:extLst>
      <p:ext uri="{BB962C8B-B14F-4D97-AF65-F5344CB8AC3E}">
        <p14:creationId xmlns:p14="http://schemas.microsoft.com/office/powerpoint/2010/main" val="1685946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C4B0-A7D3-4CD8-87BB-1F7B30053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0"/>
            <a:ext cx="10018711" cy="843379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557C3-2D68-4DB7-B3C4-E9F5BB081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53677EC2-B23A-4EEF-A1DE-2309D7595B5B}"/>
              </a:ext>
            </a:extLst>
          </p:cNvPr>
          <p:cNvPicPr>
            <a:picLocks noGrp="1"/>
          </p:cNvPicPr>
          <p:nvPr>
            <p:ph type="pic" idx="1"/>
          </p:nvPr>
        </p:nvPicPr>
        <p:blipFill>
          <a:blip r:embed="rId2"/>
          <a:srcRect l="3918" r="3918"/>
          <a:stretch>
            <a:fillRect/>
          </a:stretch>
        </p:blipFill>
        <p:spPr>
          <a:xfrm>
            <a:off x="2243616" y="7261933"/>
            <a:ext cx="6429867" cy="7702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D6AD4C-3DE3-48EA-91B3-AE429DB6503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84311" y="1064685"/>
            <a:ext cx="10092171" cy="546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562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C6CFD-0E87-43EE-A44E-C8B09462B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1E7DF-EC68-433F-B840-D4EAAFEB0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2805255F-81CA-4713-B164-3A433FB64089}"/>
              </a:ext>
            </a:extLst>
          </p:cNvPr>
          <p:cNvPicPr>
            <a:picLocks noGrp="1"/>
          </p:cNvPicPr>
          <p:nvPr>
            <p:ph type="pic" idx="1"/>
          </p:nvPr>
        </p:nvPicPr>
        <p:blipFill>
          <a:blip r:embed="rId2"/>
          <a:srcRect t="14065" b="14065"/>
          <a:stretch>
            <a:fillRect/>
          </a:stretch>
        </p:blipFill>
        <p:spPr>
          <a:xfrm flipH="1">
            <a:off x="2287027" y="3562008"/>
            <a:ext cx="45719" cy="1133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5BD41E-B282-486E-94E0-AB1A6CD2F46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7232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125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085A8-3DFE-44BD-972D-B4FCEA065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CC962A-1AAA-4335-A6CE-0FA76BE85F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 flipH="1" flipV="1">
            <a:off x="1426302" y="208668"/>
            <a:ext cx="45719" cy="45719"/>
          </a:xfrm>
        </p:spPr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677F95-B817-4C1D-A017-03A8E09FE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9EE528-8C60-46D5-989F-5D45C20780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6062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74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60CF3-CDBC-455F-85CD-B3821CF45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CB4AD7-2516-44D7-AE8F-B07903BB9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5ACAD57-7B89-4F88-8E5B-E9AE0B788347}"/>
              </a:ext>
            </a:extLst>
          </p:cNvPr>
          <p:cNvPicPr>
            <a:picLocks noGrp="1"/>
          </p:cNvPicPr>
          <p:nvPr>
            <p:ph type="pic" idx="1"/>
          </p:nvPr>
        </p:nvPicPr>
        <p:blipFill>
          <a:blip r:embed="rId2"/>
          <a:srcRect t="5102" b="5102"/>
          <a:stretch>
            <a:fillRect/>
          </a:stretch>
        </p:blipFill>
        <p:spPr>
          <a:xfrm>
            <a:off x="0" y="0"/>
            <a:ext cx="11887200" cy="6858000"/>
          </a:xfrm>
          <a:prstGeom prst="rect">
            <a:avLst/>
          </a:prstGeom>
        </p:spPr>
      </p:pic>
      <p:pic>
        <p:nvPicPr>
          <p:cNvPr id="6" name="Picture Placeholder 4">
            <a:extLst>
              <a:ext uri="{FF2B5EF4-FFF2-40B4-BE49-F238E27FC236}">
                <a16:creationId xmlns:a16="http://schemas.microsoft.com/office/drawing/2014/main" id="{B35D4D9E-7716-47BC-BD33-1F7F16916026}"/>
              </a:ext>
            </a:extLst>
          </p:cNvPr>
          <p:cNvPicPr>
            <a:picLocks/>
          </p:cNvPicPr>
          <p:nvPr/>
        </p:nvPicPr>
        <p:blipFill>
          <a:blip r:embed="rId2"/>
          <a:srcRect t="5102" b="5102"/>
          <a:stretch>
            <a:fillRect/>
          </a:stretch>
        </p:blipFill>
        <p:spPr>
          <a:xfrm>
            <a:off x="152400" y="152400"/>
            <a:ext cx="11887200" cy="6858000"/>
          </a:xfrm>
          <a:prstGeom prst="rect">
            <a:avLst/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22771333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3D316-BB87-4B54-BCD7-BC0F4F778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312438"/>
            <a:ext cx="184691" cy="5667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032148-0E69-466A-85EE-585D1138A0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6012" y="1064684"/>
            <a:ext cx="4707246" cy="3032403"/>
          </a:xfrm>
        </p:spPr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E1F112-89EC-4BA9-944C-271CE276B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27433" y="5299603"/>
            <a:ext cx="5075589" cy="49371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98B024-0BC9-4643-89D0-3A045D819B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26897" cy="724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366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066BA-7996-4DF0-8B41-CC6377869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7D080E-7847-45E4-B14A-6FDE21824FA4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261463-B3E3-47B4-97FA-3F747DE49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07AAA1-0A76-45D8-B5D4-DEA54B02D02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021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0F6F-6985-42AF-9387-7C297FA4A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1DE60-27CD-49B8-A485-A9A4465D6D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00C2EB-5B69-4507-9291-26A749CED8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B3D1D7-9AD5-41B5-8AA7-A8B1B3DE7EE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3968"/>
            <a:ext cx="12192000" cy="684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576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34CC8-3B60-4BE2-81BE-87924AEB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3EE08-8DDC-4F4A-86E3-6F3764E32C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22945-8703-4D41-9079-86EC46BB7C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7F6E8C-0E54-46C6-A4C9-2F27ED68BBF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5866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1D13E-7E5E-4A75-A4EA-F13DCF129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147" y="321815"/>
            <a:ext cx="10018711" cy="127616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40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5F9B4-B45A-43E2-809C-42A762974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9823" y="3429000"/>
            <a:ext cx="10018713" cy="1447800"/>
          </a:xfrm>
        </p:spPr>
        <p:txBody>
          <a:bodyPr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Deep learning models can greatly improve lung cancer detection accuracy.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ResNet-50 demonstrated strong performance among tested architectures.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Proposed system enhances reliability of computer-aided diagnosis.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Can be deployed in hospitals for faster screening.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Future scope includes real-time detection and integration with IoT.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95415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3B81C-7D56-4928-9C84-5CD6A308D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239698"/>
            <a:ext cx="10018711" cy="1083076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Future Scope</a:t>
            </a:r>
            <a:endParaRPr lang="en-US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0BA91-F379-4A30-B5A9-F0174C857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4312" y="514905"/>
            <a:ext cx="11432698" cy="6676008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hospital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 as web application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Mobile-based cancer screening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AI diagnostic support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1621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885EE-B3E8-4C02-802D-DF3CF0219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2" y="-62144"/>
            <a:ext cx="10018711" cy="1464816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C3497-ABB9-4B5F-8473-5869913B2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78384" y="1162974"/>
            <a:ext cx="10795247" cy="5450889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R. L. Siegel, K. D. Miller, H. E. Fuchs, and A. Jemal, “Cancer Statistics, 2021.,” CA. Cancer J. Clin., vol. 71, no. 1, pp. 7–33, Jan. 2021,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10.3322/caac.21654.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S. Lei et al., “Global patterns of breast cancer incidence and mortality: A population‐based cancer registry data analysis from 2000 to 2020,” Cancer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Commun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., vol. 41, no. 11, pp. 1183 1194, 2021.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M. M.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Cackowski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et al., “The absence of lymph nodes removed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pNx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status) impacts survival in patients with lung cancer treated surgically,” Surg. Oncol., vol. 48, p. 101941, 2023.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S. S.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Raoof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M. A. Jabbar, and S. A. Fathima, “Lung Cancer Prediction using Machine Learning: A Comprehensive Approach,” in 2020 2nd International Conference on Innovative Mechanisms for Industry Applications (ICIMIA), 2020, pp. 108–115.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10.1109/ICIMIA48430.2020.9074947.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Jumanto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M. F.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Mardiansyah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R.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Pratama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M. F. Al Hakim, and B. Rawat, “Optimization of breast cancer classification using feature selection on neural network,” J. Soft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Comput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Explor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., vol. 3, no. 2, pp. 105–110, 2022,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doi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10.52465/joscex.v3i2.78. B. </a:t>
            </a:r>
          </a:p>
        </p:txBody>
      </p:sp>
    </p:spTree>
    <p:extLst>
      <p:ext uri="{BB962C8B-B14F-4D97-AF65-F5344CB8AC3E}">
        <p14:creationId xmlns:p14="http://schemas.microsoft.com/office/powerpoint/2010/main" val="3357703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00C44-289D-CD56-0243-B76175616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31621"/>
            <a:ext cx="10018713" cy="328618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3873FB-DF95-2FC8-F659-DEA668FD6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5502" y="150663"/>
            <a:ext cx="1186570" cy="138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9064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685</TotalTime>
  <Words>1043</Words>
  <Application>Microsoft Office PowerPoint</Application>
  <PresentationFormat>Widescreen</PresentationFormat>
  <Paragraphs>139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Corbel</vt:lpstr>
      <vt:lpstr>Times New Roman</vt:lpstr>
      <vt:lpstr>Wingdings</vt:lpstr>
      <vt:lpstr>Parallax</vt:lpstr>
      <vt:lpstr>PowerPoint Presentation</vt:lpstr>
      <vt:lpstr>Contents</vt:lpstr>
      <vt:lpstr>What is Lung Cancer and Why is it Important to Detect?</vt:lpstr>
      <vt:lpstr>Abstract</vt:lpstr>
      <vt:lpstr>Problem Statement</vt:lpstr>
      <vt:lpstr>Existing System</vt:lpstr>
      <vt:lpstr>PowerPoint Presentation</vt:lpstr>
      <vt:lpstr>Objectives</vt:lpstr>
      <vt:lpstr>Drawbacks of Existing System</vt:lpstr>
      <vt:lpstr>Proposed System</vt:lpstr>
      <vt:lpstr>Comparison table</vt:lpstr>
      <vt:lpstr>Advantages of Proposed System</vt:lpstr>
      <vt:lpstr>Using CT Scans</vt:lpstr>
      <vt:lpstr>System Modules</vt:lpstr>
      <vt:lpstr> Software Requirements </vt:lpstr>
      <vt:lpstr>Hardware Requirements </vt:lpstr>
      <vt:lpstr>PowerPoint Presentation</vt:lpstr>
      <vt:lpstr>PowerPoint Presentation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Future Scope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 Hameed Uddin</dc:creator>
  <cp:lastModifiedBy>Narmeen Jameel</cp:lastModifiedBy>
  <cp:revision>49</cp:revision>
  <dcterms:created xsi:type="dcterms:W3CDTF">2024-06-25T15:41:19Z</dcterms:created>
  <dcterms:modified xsi:type="dcterms:W3CDTF">2026-04-19T14:35:21Z</dcterms:modified>
</cp:coreProperties>
</file>